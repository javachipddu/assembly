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프리텐다드 Bold" panose="020B0600000101010101" charset="-127"/>
      <p:regular r:id="rId11"/>
    </p:embeddedFont>
    <p:embeddedFont>
      <p:font typeface="Calibri" panose="020F0502020204030204" pitchFamily="34" charset="0"/>
      <p:regular r:id="rId12"/>
      <p:bold r:id="rId13"/>
      <p:italic r:id="rId14"/>
      <p:boldItalic r:id="rId15"/>
    </p:embeddedFont>
    <p:embeddedFont>
      <p:font typeface="프리텐다드" panose="020B0600000101010101" charset="-127"/>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56218" autoAdjust="0"/>
  </p:normalViewPr>
  <p:slideViewPr>
    <p:cSldViewPr>
      <p:cViewPr varScale="1">
        <p:scale>
          <a:sx n="29" d="100"/>
          <a:sy n="29" d="100"/>
        </p:scale>
        <p:origin x="187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어셈블리 프로그래밍에서의 DLL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18487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오늘 발표할 주제는 DLL, 즉 Dynamic-Link Library입니다. DLL이 무엇인지 알아보고, 특히 어셈블리 프로그래밍의 관점에서 DLL이 어떻게 동작하는지 설명하겠습니다.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5010708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DLL의 정의입니다.</a:t>
            </a:r>
          </a:p>
          <a:p>
            <a:endParaRPr lang="en-US"/>
          </a:p>
          <a:p>
            <a:r>
              <a:rPr lang="en-US"/>
              <a:t>DLL은 동적 연결 라이브러리라는 뜻입니다. 쉽게 말해 여러 프로그램에서 공통으로 사용할 수 있는 함수와 코드를 별도의 파일에 저장해 놓은 것입니다.</a:t>
            </a:r>
          </a:p>
          <a:p>
            <a:endParaRPr lang="en-US"/>
          </a:p>
          <a:p>
            <a:r>
              <a:rPr lang="en-US"/>
              <a:t>예를 들어 여러 프로그램이 파일을 읽거나 메모리를 관리하는 기능을 필요로 한다고 생각해 보겠습니다. 각 프로그램이 이러한 기능을 전부 직접 구현할 수도 있지만, 이미 만들어진 공통 기능을 DLL로 제공하면 여러 프로그램이 이를 활용할 수 있습니다.</a:t>
            </a:r>
          </a:p>
          <a:p>
            <a:endParaRPr lang="en-US"/>
          </a:p>
          <a:p>
            <a:r>
              <a:rPr lang="en-US"/>
              <a:t>Windows에서 사용하는 시스템 라이브러리도 이러한 방식으로 다양한 기능을 제공합니다.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5568395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DLL이 필요한 이유입니다.</a:t>
            </a:r>
          </a:p>
          <a:p>
            <a:endParaRPr lang="en-US"/>
          </a:p>
          <a:p>
            <a:r>
              <a:rPr lang="en-US"/>
              <a:t>DLL의 주요 장점은 코드 재사용, 실행 파일의 중복 감소, 그리고 기능의 모듈화입니다.</a:t>
            </a:r>
          </a:p>
          <a:p>
            <a:endParaRPr lang="en-US"/>
          </a:p>
          <a:p>
            <a:r>
              <a:rPr lang="en-US"/>
              <a:t>여러 프로그램이 같은 기능을 각각 포함하는 대신 공통 DLL을 사용할 수 있으므로, 동일한 코드가 여러 실행 파일에 반복해서 들어가는 것을 줄일 수 있습니다.</a:t>
            </a:r>
          </a:p>
          <a:p>
            <a:endParaRPr lang="en-US"/>
          </a:p>
          <a:p>
            <a:r>
              <a:rPr lang="en-US"/>
              <a:t>다만 DLL을 사용한다고 해서 모든 프로그램의 메모리 사용량이 무조건 줄어드는 것은 아닙니다. 실제 효과는 프로그램의 구조와 사용 방식에 따라 달라집니다.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230753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DLL의</a:t>
            </a:r>
            <a:r>
              <a:rPr lang="en-US" dirty="0"/>
              <a:t> </a:t>
            </a:r>
            <a:r>
              <a:rPr lang="en-US" dirty="0" err="1"/>
              <a:t>동작</a:t>
            </a:r>
            <a:r>
              <a:rPr lang="en-US" dirty="0"/>
              <a:t> </a:t>
            </a:r>
            <a:r>
              <a:rPr lang="en-US" dirty="0" err="1"/>
              <a:t>원리를</a:t>
            </a:r>
            <a:r>
              <a:rPr lang="en-US" dirty="0"/>
              <a:t> </a:t>
            </a:r>
            <a:r>
              <a:rPr lang="en-US" dirty="0" err="1"/>
              <a:t>어셈블리</a:t>
            </a:r>
            <a:r>
              <a:rPr lang="en-US" dirty="0"/>
              <a:t> </a:t>
            </a:r>
            <a:r>
              <a:rPr lang="en-US" dirty="0" err="1"/>
              <a:t>관점에서</a:t>
            </a:r>
            <a:r>
              <a:rPr lang="en-US" dirty="0"/>
              <a:t> </a:t>
            </a:r>
            <a:r>
              <a:rPr lang="en-US" dirty="0" err="1"/>
              <a:t>살펴보겠습니다</a:t>
            </a:r>
            <a:r>
              <a:rPr lang="en-US" dirty="0"/>
              <a:t>.</a:t>
            </a:r>
          </a:p>
          <a:p>
            <a:endParaRPr lang="en-US" dirty="0"/>
          </a:p>
          <a:p>
            <a:r>
              <a:rPr lang="en-US" dirty="0" err="1"/>
              <a:t>어셈블리에서는</a:t>
            </a:r>
            <a:r>
              <a:rPr lang="en-US" dirty="0"/>
              <a:t> </a:t>
            </a:r>
            <a:r>
              <a:rPr lang="en-US" dirty="0" err="1"/>
              <a:t>함수를</a:t>
            </a:r>
            <a:r>
              <a:rPr lang="en-US" dirty="0"/>
              <a:t> </a:t>
            </a:r>
            <a:r>
              <a:rPr lang="en-US" dirty="0" err="1"/>
              <a:t>호출할</a:t>
            </a:r>
            <a:r>
              <a:rPr lang="en-US" dirty="0"/>
              <a:t> 때 CALL </a:t>
            </a:r>
            <a:r>
              <a:rPr lang="en-US" dirty="0" err="1"/>
              <a:t>명령어를</a:t>
            </a:r>
            <a:r>
              <a:rPr lang="en-US" dirty="0"/>
              <a:t> </a:t>
            </a:r>
            <a:r>
              <a:rPr lang="en-US" dirty="0" err="1"/>
              <a:t>사용하고</a:t>
            </a:r>
            <a:r>
              <a:rPr lang="en-US" dirty="0"/>
              <a:t>, </a:t>
            </a:r>
            <a:r>
              <a:rPr lang="en-US" dirty="0" err="1"/>
              <a:t>함수</a:t>
            </a:r>
            <a:r>
              <a:rPr lang="en-US" dirty="0"/>
              <a:t> </a:t>
            </a:r>
            <a:r>
              <a:rPr lang="en-US" dirty="0" err="1"/>
              <a:t>실행이</a:t>
            </a:r>
            <a:r>
              <a:rPr lang="en-US" dirty="0"/>
              <a:t> </a:t>
            </a:r>
            <a:r>
              <a:rPr lang="en-US" dirty="0" err="1"/>
              <a:t>끝나면</a:t>
            </a:r>
            <a:r>
              <a:rPr lang="en-US" dirty="0"/>
              <a:t> </a:t>
            </a:r>
            <a:r>
              <a:rPr lang="en-US" dirty="0" err="1"/>
              <a:t>일반적으로</a:t>
            </a:r>
            <a:r>
              <a:rPr lang="en-US" dirty="0"/>
              <a:t> RET </a:t>
            </a:r>
            <a:r>
              <a:rPr lang="en-US" dirty="0" err="1"/>
              <a:t>명령어를</a:t>
            </a:r>
            <a:r>
              <a:rPr lang="en-US" dirty="0"/>
              <a:t> </a:t>
            </a:r>
            <a:r>
              <a:rPr lang="en-US" dirty="0" err="1"/>
              <a:t>통해</a:t>
            </a:r>
            <a:r>
              <a:rPr lang="en-US" dirty="0"/>
              <a:t> </a:t>
            </a:r>
            <a:r>
              <a:rPr lang="en-US" dirty="0" err="1"/>
              <a:t>호출한</a:t>
            </a:r>
            <a:r>
              <a:rPr lang="en-US" dirty="0"/>
              <a:t> </a:t>
            </a:r>
            <a:r>
              <a:rPr lang="en-US" dirty="0" err="1"/>
              <a:t>코드로</a:t>
            </a:r>
            <a:r>
              <a:rPr lang="en-US" dirty="0"/>
              <a:t> </a:t>
            </a:r>
            <a:r>
              <a:rPr lang="en-US" dirty="0" err="1"/>
              <a:t>돌아옵니다</a:t>
            </a:r>
            <a:r>
              <a:rPr lang="en-US" dirty="0"/>
              <a:t>.</a:t>
            </a:r>
          </a:p>
          <a:p>
            <a:endParaRPr lang="en-US" dirty="0"/>
          </a:p>
          <a:p>
            <a:r>
              <a:rPr lang="en-US" dirty="0" err="1"/>
              <a:t>DLL의</a:t>
            </a:r>
            <a:r>
              <a:rPr lang="en-US" dirty="0"/>
              <a:t> </a:t>
            </a:r>
            <a:r>
              <a:rPr lang="en-US" dirty="0" err="1"/>
              <a:t>함수도</a:t>
            </a:r>
            <a:r>
              <a:rPr lang="en-US" dirty="0"/>
              <a:t> </a:t>
            </a:r>
            <a:r>
              <a:rPr lang="en-US" dirty="0" err="1"/>
              <a:t>기본적으로</a:t>
            </a:r>
            <a:r>
              <a:rPr lang="en-US" dirty="0"/>
              <a:t> </a:t>
            </a:r>
            <a:r>
              <a:rPr lang="en-US" dirty="0" err="1"/>
              <a:t>이러한</a:t>
            </a:r>
            <a:r>
              <a:rPr lang="en-US" dirty="0"/>
              <a:t> </a:t>
            </a:r>
            <a:r>
              <a:rPr lang="en-US" dirty="0" err="1"/>
              <a:t>함수</a:t>
            </a:r>
            <a:r>
              <a:rPr lang="en-US" dirty="0"/>
              <a:t> </a:t>
            </a:r>
            <a:r>
              <a:rPr lang="en-US" dirty="0" err="1"/>
              <a:t>호출</a:t>
            </a:r>
            <a:r>
              <a:rPr lang="en-US" dirty="0"/>
              <a:t> </a:t>
            </a:r>
            <a:r>
              <a:rPr lang="en-US" dirty="0" err="1"/>
              <a:t>원리로</a:t>
            </a:r>
            <a:r>
              <a:rPr lang="en-US" dirty="0"/>
              <a:t> </a:t>
            </a:r>
            <a:r>
              <a:rPr lang="en-US" dirty="0" err="1"/>
              <a:t>실행됩니다</a:t>
            </a:r>
            <a:r>
              <a:rPr lang="en-US" dirty="0"/>
              <a:t>. </a:t>
            </a:r>
            <a:r>
              <a:rPr lang="en-US" dirty="0" err="1"/>
              <a:t>차이점은</a:t>
            </a:r>
            <a:r>
              <a:rPr lang="en-US" dirty="0"/>
              <a:t> </a:t>
            </a:r>
            <a:r>
              <a:rPr lang="en-US" dirty="0" err="1"/>
              <a:t>함수의</a:t>
            </a:r>
            <a:r>
              <a:rPr lang="en-US" dirty="0"/>
              <a:t> </a:t>
            </a:r>
            <a:r>
              <a:rPr lang="en-US" dirty="0" err="1"/>
              <a:t>코드가</a:t>
            </a:r>
            <a:r>
              <a:rPr lang="en-US" dirty="0"/>
              <a:t> </a:t>
            </a:r>
            <a:r>
              <a:rPr lang="en-US" dirty="0" err="1"/>
              <a:t>현재</a:t>
            </a:r>
            <a:r>
              <a:rPr lang="en-US" dirty="0"/>
              <a:t> </a:t>
            </a:r>
            <a:r>
              <a:rPr lang="en-US" dirty="0" err="1"/>
              <a:t>실행</a:t>
            </a:r>
            <a:r>
              <a:rPr lang="en-US" dirty="0"/>
              <a:t> </a:t>
            </a:r>
            <a:r>
              <a:rPr lang="en-US" dirty="0" err="1"/>
              <a:t>파일</a:t>
            </a:r>
            <a:r>
              <a:rPr lang="en-US" dirty="0"/>
              <a:t> </a:t>
            </a:r>
            <a:r>
              <a:rPr lang="en-US" dirty="0" err="1"/>
              <a:t>내부가</a:t>
            </a:r>
            <a:r>
              <a:rPr lang="en-US" dirty="0"/>
              <a:t> </a:t>
            </a:r>
            <a:r>
              <a:rPr lang="en-US" dirty="0" err="1"/>
              <a:t>아니라</a:t>
            </a:r>
            <a:r>
              <a:rPr lang="en-US" dirty="0"/>
              <a:t> </a:t>
            </a:r>
            <a:r>
              <a:rPr lang="en-US" dirty="0" err="1"/>
              <a:t>별도의</a:t>
            </a:r>
            <a:r>
              <a:rPr lang="en-US" dirty="0"/>
              <a:t> DLL </a:t>
            </a:r>
            <a:r>
              <a:rPr lang="en-US" dirty="0" err="1"/>
              <a:t>파일에</a:t>
            </a:r>
            <a:r>
              <a:rPr lang="en-US" dirty="0"/>
              <a:t> </a:t>
            </a:r>
            <a:r>
              <a:rPr lang="en-US" dirty="0" err="1"/>
              <a:t>있다는</a:t>
            </a:r>
            <a:r>
              <a:rPr lang="en-US" dirty="0"/>
              <a:t> </a:t>
            </a:r>
            <a:r>
              <a:rPr lang="en-US" dirty="0" err="1"/>
              <a:t>것입니다</a:t>
            </a:r>
            <a:r>
              <a:rPr lang="en-US" dirty="0"/>
              <a:t>.</a:t>
            </a:r>
          </a:p>
          <a:p>
            <a:endParaRPr lang="en-US" dirty="0"/>
          </a:p>
          <a:p>
            <a:r>
              <a:rPr lang="en-US" dirty="0" err="1"/>
              <a:t>그렇다면</a:t>
            </a:r>
            <a:r>
              <a:rPr lang="en-US" dirty="0"/>
              <a:t> </a:t>
            </a:r>
            <a:r>
              <a:rPr lang="en-US" dirty="0" err="1"/>
              <a:t>프로그램은</a:t>
            </a:r>
            <a:r>
              <a:rPr lang="en-US" dirty="0"/>
              <a:t> </a:t>
            </a:r>
            <a:r>
              <a:rPr lang="en-US" dirty="0" err="1"/>
              <a:t>외부</a:t>
            </a:r>
            <a:r>
              <a:rPr lang="en-US" dirty="0"/>
              <a:t> DLL </a:t>
            </a:r>
            <a:r>
              <a:rPr lang="en-US" dirty="0" err="1"/>
              <a:t>함수의</a:t>
            </a:r>
            <a:r>
              <a:rPr lang="en-US" dirty="0"/>
              <a:t> </a:t>
            </a:r>
            <a:r>
              <a:rPr lang="en-US" dirty="0" err="1"/>
              <a:t>주소를</a:t>
            </a:r>
            <a:r>
              <a:rPr lang="en-US" dirty="0"/>
              <a:t> </a:t>
            </a:r>
            <a:r>
              <a:rPr lang="en-US" dirty="0" err="1"/>
              <a:t>어떻게</a:t>
            </a:r>
            <a:r>
              <a:rPr lang="en-US" dirty="0"/>
              <a:t> 알 수 </a:t>
            </a:r>
            <a:r>
              <a:rPr lang="en-US" dirty="0" err="1"/>
              <a:t>있을까요</a:t>
            </a:r>
            <a:r>
              <a:rPr lang="en-US" dirty="0"/>
              <a:t>?</a:t>
            </a:r>
          </a:p>
          <a:p>
            <a:endParaRPr lang="en-US" dirty="0"/>
          </a:p>
          <a:p>
            <a:r>
              <a:rPr lang="en-US" dirty="0" err="1"/>
              <a:t>Windows에서는</a:t>
            </a:r>
            <a:r>
              <a:rPr lang="en-US" dirty="0"/>
              <a:t> </a:t>
            </a:r>
            <a:r>
              <a:rPr lang="en-US" dirty="0" err="1"/>
              <a:t>실행</a:t>
            </a:r>
            <a:r>
              <a:rPr lang="en-US" dirty="0"/>
              <a:t> </a:t>
            </a:r>
            <a:r>
              <a:rPr lang="en-US" dirty="0" err="1"/>
              <a:t>파일에</a:t>
            </a:r>
            <a:r>
              <a:rPr lang="en-US" dirty="0"/>
              <a:t> </a:t>
            </a:r>
            <a:r>
              <a:rPr lang="en-US" dirty="0" err="1"/>
              <a:t>기록된</a:t>
            </a:r>
            <a:r>
              <a:rPr lang="en-US" dirty="0"/>
              <a:t> </a:t>
            </a:r>
            <a:r>
              <a:rPr lang="en-US" dirty="0" err="1"/>
              <a:t>가져오기</a:t>
            </a:r>
            <a:r>
              <a:rPr lang="en-US" dirty="0"/>
              <a:t> </a:t>
            </a:r>
            <a:r>
              <a:rPr lang="en-US" dirty="0" err="1"/>
              <a:t>정보를</a:t>
            </a:r>
            <a:r>
              <a:rPr lang="en-US" dirty="0"/>
              <a:t> </a:t>
            </a:r>
            <a:r>
              <a:rPr lang="en-US" dirty="0" err="1"/>
              <a:t>이용합니다</a:t>
            </a:r>
            <a:r>
              <a:rPr lang="en-US" dirty="0"/>
              <a:t>. </a:t>
            </a:r>
            <a:r>
              <a:rPr lang="en-US" dirty="0" err="1"/>
              <a:t>프로그램이</a:t>
            </a:r>
            <a:r>
              <a:rPr lang="en-US" dirty="0"/>
              <a:t> </a:t>
            </a:r>
            <a:r>
              <a:rPr lang="en-US" dirty="0" err="1"/>
              <a:t>시작될</a:t>
            </a:r>
            <a:r>
              <a:rPr lang="en-US" dirty="0"/>
              <a:t> 때 Windows </a:t>
            </a:r>
            <a:r>
              <a:rPr lang="en-US" dirty="0" err="1"/>
              <a:t>로더가</a:t>
            </a:r>
            <a:r>
              <a:rPr lang="en-US" dirty="0"/>
              <a:t> </a:t>
            </a:r>
            <a:r>
              <a:rPr lang="en-US" dirty="0" err="1"/>
              <a:t>필요한</a:t>
            </a:r>
            <a:r>
              <a:rPr lang="en-US" dirty="0"/>
              <a:t> </a:t>
            </a:r>
            <a:r>
              <a:rPr lang="en-US" dirty="0" err="1"/>
              <a:t>DLL을</a:t>
            </a:r>
            <a:r>
              <a:rPr lang="en-US" dirty="0"/>
              <a:t> </a:t>
            </a:r>
            <a:r>
              <a:rPr lang="en-US" dirty="0" err="1"/>
              <a:t>로드하고</a:t>
            </a:r>
            <a:r>
              <a:rPr lang="en-US" dirty="0"/>
              <a:t> </a:t>
            </a:r>
            <a:r>
              <a:rPr lang="en-US" dirty="0" err="1"/>
              <a:t>함수의</a:t>
            </a:r>
            <a:r>
              <a:rPr lang="en-US" dirty="0"/>
              <a:t> </a:t>
            </a:r>
            <a:r>
              <a:rPr lang="en-US" dirty="0" err="1"/>
              <a:t>주소를</a:t>
            </a:r>
            <a:r>
              <a:rPr lang="en-US" dirty="0"/>
              <a:t> </a:t>
            </a:r>
            <a:r>
              <a:rPr lang="en-US" dirty="0" err="1"/>
              <a:t>연결합니다</a:t>
            </a:r>
            <a:r>
              <a:rPr lang="en-US" dirty="0"/>
              <a:t>. </a:t>
            </a:r>
            <a:r>
              <a:rPr lang="en-US" dirty="0" err="1"/>
              <a:t>이때</a:t>
            </a:r>
            <a:r>
              <a:rPr lang="en-US" dirty="0"/>
              <a:t> IAT, 즉 Import Address </a:t>
            </a:r>
            <a:r>
              <a:rPr lang="en-US" dirty="0" err="1"/>
              <a:t>Table이라는</a:t>
            </a:r>
            <a:r>
              <a:rPr lang="en-US" dirty="0"/>
              <a:t> </a:t>
            </a:r>
            <a:r>
              <a:rPr lang="en-US" dirty="0" err="1"/>
              <a:t>테이블이</a:t>
            </a:r>
            <a:r>
              <a:rPr lang="en-US" dirty="0"/>
              <a:t> </a:t>
            </a:r>
            <a:r>
              <a:rPr lang="en-US" dirty="0" err="1"/>
              <a:t>중요한</a:t>
            </a:r>
            <a:r>
              <a:rPr lang="en-US" dirty="0"/>
              <a:t> </a:t>
            </a:r>
            <a:r>
              <a:rPr lang="en-US" dirty="0" err="1"/>
              <a:t>역할을</a:t>
            </a:r>
            <a:r>
              <a:rPr lang="en-US" dirty="0"/>
              <a:t> </a:t>
            </a:r>
            <a:r>
              <a:rPr lang="en-US" dirty="0" err="1"/>
              <a:t>합니다</a:t>
            </a:r>
            <a:r>
              <a:rPr lang="en-US" dirty="0"/>
              <a:t>.</a:t>
            </a:r>
          </a:p>
          <a:p>
            <a:endParaRPr lang="en-US" dirty="0"/>
          </a:p>
          <a:p>
            <a:r>
              <a:rPr lang="en-US" dirty="0" err="1"/>
              <a:t>IAT는</a:t>
            </a:r>
            <a:r>
              <a:rPr lang="en-US" dirty="0"/>
              <a:t> </a:t>
            </a:r>
            <a:r>
              <a:rPr lang="en-US" dirty="0" err="1"/>
              <a:t>외부에서</a:t>
            </a:r>
            <a:r>
              <a:rPr lang="en-US" dirty="0"/>
              <a:t> </a:t>
            </a:r>
            <a:r>
              <a:rPr lang="en-US" dirty="0" err="1"/>
              <a:t>가져오는</a:t>
            </a:r>
            <a:r>
              <a:rPr lang="en-US" dirty="0"/>
              <a:t> </a:t>
            </a:r>
            <a:r>
              <a:rPr lang="en-US" dirty="0" err="1"/>
              <a:t>함수의</a:t>
            </a:r>
            <a:r>
              <a:rPr lang="en-US" dirty="0"/>
              <a:t> </a:t>
            </a:r>
            <a:r>
              <a:rPr lang="en-US" dirty="0" err="1"/>
              <a:t>주소를</a:t>
            </a:r>
            <a:r>
              <a:rPr lang="en-US" dirty="0"/>
              <a:t> </a:t>
            </a:r>
            <a:r>
              <a:rPr lang="en-US" dirty="0" err="1"/>
              <a:t>관리하는</a:t>
            </a:r>
            <a:r>
              <a:rPr lang="en-US" dirty="0"/>
              <a:t> </a:t>
            </a:r>
            <a:r>
              <a:rPr lang="en-US" dirty="0" err="1"/>
              <a:t>테이블입니다</a:t>
            </a:r>
            <a:r>
              <a:rPr lang="en-US" dirty="0"/>
              <a:t>. </a:t>
            </a:r>
            <a:r>
              <a:rPr lang="en-US" dirty="0" err="1"/>
              <a:t>따라서</a:t>
            </a:r>
            <a:r>
              <a:rPr lang="en-US" dirty="0"/>
              <a:t> </a:t>
            </a:r>
            <a:r>
              <a:rPr lang="en-US" dirty="0" err="1"/>
              <a:t>어셈블리</a:t>
            </a:r>
            <a:r>
              <a:rPr lang="en-US" dirty="0"/>
              <a:t> </a:t>
            </a:r>
            <a:r>
              <a:rPr lang="en-US" dirty="0" err="1"/>
              <a:t>프로그램은</a:t>
            </a:r>
            <a:r>
              <a:rPr lang="en-US" dirty="0"/>
              <a:t> </a:t>
            </a:r>
            <a:r>
              <a:rPr lang="en-US" dirty="0" err="1"/>
              <a:t>준비된</a:t>
            </a:r>
            <a:r>
              <a:rPr lang="en-US" dirty="0"/>
              <a:t> </a:t>
            </a:r>
            <a:r>
              <a:rPr lang="en-US" dirty="0" err="1"/>
              <a:t>함수</a:t>
            </a:r>
            <a:r>
              <a:rPr lang="en-US" dirty="0"/>
              <a:t> </a:t>
            </a:r>
            <a:r>
              <a:rPr lang="en-US" dirty="0" err="1"/>
              <a:t>주소를</a:t>
            </a:r>
            <a:r>
              <a:rPr lang="en-US" dirty="0"/>
              <a:t> </a:t>
            </a:r>
            <a:r>
              <a:rPr lang="en-US" dirty="0" err="1"/>
              <a:t>통해</a:t>
            </a:r>
            <a:r>
              <a:rPr lang="en-US" dirty="0"/>
              <a:t> </a:t>
            </a:r>
            <a:r>
              <a:rPr lang="en-US" dirty="0" err="1"/>
              <a:t>DLL의</a:t>
            </a:r>
            <a:r>
              <a:rPr lang="en-US" dirty="0"/>
              <a:t> </a:t>
            </a:r>
            <a:r>
              <a:rPr lang="en-US" dirty="0" err="1"/>
              <a:t>함수를</a:t>
            </a:r>
            <a:r>
              <a:rPr lang="en-US" dirty="0"/>
              <a:t> </a:t>
            </a:r>
            <a:r>
              <a:rPr lang="en-US" dirty="0" err="1"/>
              <a:t>호출할</a:t>
            </a:r>
            <a:r>
              <a:rPr lang="en-US" dirty="0"/>
              <a:t> 수 </a:t>
            </a:r>
            <a:r>
              <a:rPr lang="en-US" dirty="0" err="1"/>
              <a:t>있습니다</a:t>
            </a:r>
            <a:r>
              <a:rPr lang="en-US" dirty="0"/>
              <a:t>.</a:t>
            </a:r>
          </a:p>
          <a:p>
            <a:endParaRPr lang="en-US" dirty="0"/>
          </a:p>
          <a:p>
            <a:r>
              <a:rPr lang="en-US" dirty="0" err="1"/>
              <a:t>개념적으로는</a:t>
            </a:r>
            <a:r>
              <a:rPr lang="en-US" dirty="0"/>
              <a:t> CALL </a:t>
            </a:r>
            <a:r>
              <a:rPr lang="en-US" dirty="0" err="1"/>
              <a:t>명령어가</a:t>
            </a:r>
            <a:r>
              <a:rPr lang="en-US" dirty="0"/>
              <a:t> </a:t>
            </a:r>
            <a:r>
              <a:rPr lang="en-US" dirty="0" err="1"/>
              <a:t>외부</a:t>
            </a:r>
            <a:r>
              <a:rPr lang="en-US" dirty="0"/>
              <a:t> </a:t>
            </a:r>
            <a:r>
              <a:rPr lang="en-US" dirty="0" err="1"/>
              <a:t>함수의</a:t>
            </a:r>
            <a:r>
              <a:rPr lang="en-US" dirty="0"/>
              <a:t> </a:t>
            </a:r>
            <a:r>
              <a:rPr lang="en-US" dirty="0" err="1"/>
              <a:t>주소로</a:t>
            </a:r>
            <a:r>
              <a:rPr lang="en-US" dirty="0"/>
              <a:t> </a:t>
            </a:r>
            <a:r>
              <a:rPr lang="en-US" dirty="0" err="1"/>
              <a:t>제어를</a:t>
            </a:r>
            <a:r>
              <a:rPr lang="en-US" dirty="0"/>
              <a:t> </a:t>
            </a:r>
            <a:r>
              <a:rPr lang="en-US" dirty="0" err="1"/>
              <a:t>넘기고</a:t>
            </a:r>
            <a:r>
              <a:rPr lang="en-US" dirty="0"/>
              <a:t>, </a:t>
            </a:r>
            <a:r>
              <a:rPr lang="en-US" dirty="0" err="1"/>
              <a:t>함수</a:t>
            </a:r>
            <a:r>
              <a:rPr lang="en-US" dirty="0"/>
              <a:t> </a:t>
            </a:r>
            <a:r>
              <a:rPr lang="en-US" dirty="0" err="1"/>
              <a:t>실행이</a:t>
            </a:r>
            <a:r>
              <a:rPr lang="en-US" dirty="0"/>
              <a:t> </a:t>
            </a:r>
            <a:r>
              <a:rPr lang="en-US" dirty="0" err="1"/>
              <a:t>끝나면</a:t>
            </a:r>
            <a:r>
              <a:rPr lang="en-US" dirty="0"/>
              <a:t> </a:t>
            </a:r>
            <a:r>
              <a:rPr lang="en-US" dirty="0" err="1"/>
              <a:t>복귀</a:t>
            </a:r>
            <a:r>
              <a:rPr lang="en-US" dirty="0"/>
              <a:t> </a:t>
            </a:r>
            <a:r>
              <a:rPr lang="en-US" dirty="0" err="1"/>
              <a:t>주소를</a:t>
            </a:r>
            <a:r>
              <a:rPr lang="en-US" dirty="0"/>
              <a:t> </a:t>
            </a:r>
            <a:r>
              <a:rPr lang="en-US" dirty="0" err="1"/>
              <a:t>통해</a:t>
            </a:r>
            <a:r>
              <a:rPr lang="en-US" dirty="0"/>
              <a:t> </a:t>
            </a:r>
            <a:r>
              <a:rPr lang="en-US" dirty="0" err="1"/>
              <a:t>원래</a:t>
            </a:r>
            <a:r>
              <a:rPr lang="en-US" dirty="0"/>
              <a:t> </a:t>
            </a:r>
            <a:r>
              <a:rPr lang="en-US" dirty="0" err="1"/>
              <a:t>프로그램으로</a:t>
            </a:r>
            <a:r>
              <a:rPr lang="en-US" dirty="0"/>
              <a:t> </a:t>
            </a:r>
            <a:r>
              <a:rPr lang="en-US" dirty="0" err="1"/>
              <a:t>돌아오는</a:t>
            </a:r>
            <a:r>
              <a:rPr lang="en-US" dirty="0"/>
              <a:t> </a:t>
            </a:r>
            <a:r>
              <a:rPr lang="en-US" dirty="0" err="1"/>
              <a:t>것입니다</a:t>
            </a:r>
            <a:r>
              <a:rPr lang="en-US" dirty="0"/>
              <a:t>.</a:t>
            </a:r>
          </a:p>
          <a:p>
            <a:endParaRPr lang="en-US" dirty="0"/>
          </a:p>
          <a:p>
            <a:r>
              <a:rPr lang="en-US" dirty="0" err="1"/>
              <a:t>여기서</a:t>
            </a:r>
            <a:r>
              <a:rPr lang="en-US" dirty="0"/>
              <a:t> </a:t>
            </a:r>
            <a:r>
              <a:rPr lang="en-US" dirty="0" err="1"/>
              <a:t>중요한</a:t>
            </a:r>
            <a:r>
              <a:rPr lang="en-US" dirty="0"/>
              <a:t> </a:t>
            </a:r>
            <a:r>
              <a:rPr lang="en-US" dirty="0" err="1"/>
              <a:t>점은</a:t>
            </a:r>
            <a:r>
              <a:rPr lang="en-US" dirty="0"/>
              <a:t> CALL </a:t>
            </a:r>
            <a:r>
              <a:rPr lang="en-US" dirty="0" err="1"/>
              <a:t>명령어가</a:t>
            </a:r>
            <a:r>
              <a:rPr lang="en-US" dirty="0"/>
              <a:t> DLL </a:t>
            </a:r>
            <a:r>
              <a:rPr lang="en-US" dirty="0" err="1"/>
              <a:t>파일을</a:t>
            </a:r>
            <a:r>
              <a:rPr lang="en-US" dirty="0"/>
              <a:t> </a:t>
            </a:r>
            <a:r>
              <a:rPr lang="en-US" dirty="0" err="1"/>
              <a:t>직접</a:t>
            </a:r>
            <a:r>
              <a:rPr lang="en-US" dirty="0"/>
              <a:t> </a:t>
            </a:r>
            <a:r>
              <a:rPr lang="en-US" dirty="0" err="1"/>
              <a:t>로드하는</a:t>
            </a:r>
            <a:r>
              <a:rPr lang="en-US" dirty="0"/>
              <a:t> </a:t>
            </a:r>
            <a:r>
              <a:rPr lang="en-US" dirty="0" err="1"/>
              <a:t>것은</a:t>
            </a:r>
            <a:r>
              <a:rPr lang="en-US" dirty="0"/>
              <a:t> </a:t>
            </a:r>
            <a:r>
              <a:rPr lang="en-US" dirty="0" err="1"/>
              <a:t>아니라는</a:t>
            </a:r>
            <a:r>
              <a:rPr lang="en-US" dirty="0"/>
              <a:t> </a:t>
            </a:r>
            <a:r>
              <a:rPr lang="en-US" dirty="0" err="1"/>
              <a:t>사실입니다</a:t>
            </a:r>
            <a:r>
              <a:rPr lang="en-US" dirty="0"/>
              <a:t>. </a:t>
            </a:r>
            <a:r>
              <a:rPr lang="en-US" dirty="0" err="1"/>
              <a:t>DLL의</a:t>
            </a:r>
            <a:r>
              <a:rPr lang="en-US" dirty="0"/>
              <a:t> </a:t>
            </a:r>
            <a:r>
              <a:rPr lang="en-US" dirty="0" err="1"/>
              <a:t>로드와</a:t>
            </a:r>
            <a:r>
              <a:rPr lang="en-US" dirty="0"/>
              <a:t> </a:t>
            </a:r>
            <a:r>
              <a:rPr lang="en-US" dirty="0" err="1"/>
              <a:t>주소</a:t>
            </a:r>
            <a:r>
              <a:rPr lang="en-US" dirty="0"/>
              <a:t> </a:t>
            </a:r>
            <a:r>
              <a:rPr lang="en-US" dirty="0" err="1"/>
              <a:t>연결은</a:t>
            </a:r>
            <a:r>
              <a:rPr lang="en-US" dirty="0"/>
              <a:t> Windows </a:t>
            </a:r>
            <a:r>
              <a:rPr lang="en-US" dirty="0" err="1"/>
              <a:t>로더나</a:t>
            </a:r>
            <a:r>
              <a:rPr lang="en-US" dirty="0"/>
              <a:t> </a:t>
            </a:r>
            <a:r>
              <a:rPr lang="en-US" dirty="0" err="1"/>
              <a:t>별도의</a:t>
            </a:r>
            <a:r>
              <a:rPr lang="en-US" dirty="0"/>
              <a:t> </a:t>
            </a:r>
            <a:r>
              <a:rPr lang="en-US" dirty="0" err="1"/>
              <a:t>동적</a:t>
            </a:r>
            <a:r>
              <a:rPr lang="en-US" dirty="0"/>
              <a:t> </a:t>
            </a:r>
            <a:r>
              <a:rPr lang="en-US" dirty="0" err="1"/>
              <a:t>연결</a:t>
            </a:r>
            <a:r>
              <a:rPr lang="en-US" dirty="0"/>
              <a:t> </a:t>
            </a:r>
            <a:r>
              <a:rPr lang="en-US" dirty="0" err="1"/>
              <a:t>코드가</a:t>
            </a:r>
            <a:r>
              <a:rPr lang="en-US" dirty="0"/>
              <a:t> </a:t>
            </a:r>
            <a:r>
              <a:rPr lang="en-US" dirty="0" err="1"/>
              <a:t>담당합니다</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492138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DLL을 연결하는 두 가지 방식을 알아보겠습니다.</a:t>
            </a:r>
          </a:p>
          <a:p>
            <a:endParaRPr lang="en-US"/>
          </a:p>
          <a:p>
            <a:r>
              <a:rPr lang="en-US"/>
              <a:t>첫 번째는 로드 시 동적 연결입니다. 프로그램 실행 시 필요한 DLL과 함수가 연결되도록 운영체제가 처리합니다.</a:t>
            </a:r>
          </a:p>
          <a:p>
            <a:endParaRPr lang="en-US"/>
          </a:p>
          <a:p>
            <a:r>
              <a:rPr lang="en-US"/>
              <a:t>두 번째는 실행 중 명시적 동적 연결입니다. 프로그램이 필요할 때 LoadLibrary 함수로 DLL을 로드하고, GetProcAddress 함수로 필요한 함수의 주소를 가져옵니다.</a:t>
            </a:r>
          </a:p>
          <a:p>
            <a:endParaRPr lang="en-US"/>
          </a:p>
          <a:p>
            <a:r>
              <a:rPr lang="en-US"/>
              <a:t>두 번째 방식은 DLL을 사용할 수 없는 경우나 함수를 찾지 못한 경우에 프로그램이 직접 오류를 처리할 수 있다는 장점이 있습니다.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72559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마지막으로 정리하겠습니다.</a:t>
            </a:r>
          </a:p>
          <a:p>
            <a:endParaRPr lang="en-US"/>
          </a:p>
          <a:p>
            <a:r>
              <a:rPr lang="en-US"/>
              <a:t>DLL은 어셈블리 전용 기술이 아니라 여러 프로그래밍 언어에서 활용하는 라이브러리 기술입니다. 어셈블리 관점에서 핵심은 외부 함수의 주소가 어떻게 연결되는지, CALL을 통해 어떻게 함수를 실행하는지, 그리고 RET을 통해 어떻게 복귀하는지를 이해하는 것입니다.</a:t>
            </a:r>
          </a:p>
          <a:p>
            <a:endParaRPr lang="en-US"/>
          </a:p>
          <a:p>
            <a:r>
              <a:rPr lang="en-US"/>
              <a:t>결론적으로 DLL은 공통 기능을 재사용할 수 있게 해 주며, 어셈블리 프로그램에서도 운영체제의 기능과 다른 라이브러리의 기능을 활용할 수 있도록 해 줍니다.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3699932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이상으로 발표를 마치겠습니다. 감사합니다.</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840982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2.svg"/><Relationship Id="rId9"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06770" y="3274348"/>
            <a:ext cx="20540828" cy="7012652"/>
            <a:chOff x="0" y="0"/>
            <a:chExt cx="27387770" cy="9350202"/>
          </a:xfrm>
        </p:grpSpPr>
        <p:grpSp>
          <p:nvGrpSpPr>
            <p:cNvPr id="3" name="Group 3"/>
            <p:cNvGrpSpPr/>
            <p:nvPr/>
          </p:nvGrpSpPr>
          <p:grpSpPr>
            <a:xfrm rot="-5400000">
              <a:off x="11157038" y="-11157038"/>
              <a:ext cx="4770675" cy="27084750"/>
              <a:chOff x="0" y="0"/>
              <a:chExt cx="1831597" cy="10398600"/>
            </a:xfrm>
          </p:grpSpPr>
          <p:sp>
            <p:nvSpPr>
              <p:cNvPr id="4" name="Freeform 4"/>
              <p:cNvSpPr/>
              <p:nvPr/>
            </p:nvSpPr>
            <p:spPr>
              <a:xfrm>
                <a:off x="0" y="0"/>
                <a:ext cx="1831597" cy="10398600"/>
              </a:xfrm>
              <a:custGeom>
                <a:avLst/>
                <a:gdLst/>
                <a:ahLst/>
                <a:cxnLst/>
                <a:rect l="l" t="t" r="r" b="b"/>
                <a:pathLst>
                  <a:path w="1831597" h="10398600">
                    <a:moveTo>
                      <a:pt x="0" y="0"/>
                    </a:moveTo>
                    <a:lnTo>
                      <a:pt x="1831597" y="0"/>
                    </a:lnTo>
                    <a:lnTo>
                      <a:pt x="1831597" y="10398600"/>
                    </a:lnTo>
                    <a:lnTo>
                      <a:pt x="0" y="10398600"/>
                    </a:lnTo>
                    <a:close/>
                  </a:path>
                </a:pathLst>
              </a:custGeom>
              <a:solidFill>
                <a:srgbClr val="CBDDEF"/>
              </a:solidFill>
            </p:spPr>
          </p:sp>
          <p:sp>
            <p:nvSpPr>
              <p:cNvPr id="5" name="TextBox 5"/>
              <p:cNvSpPr txBox="1"/>
              <p:nvPr/>
            </p:nvSpPr>
            <p:spPr>
              <a:xfrm>
                <a:off x="0" y="-38100"/>
                <a:ext cx="1831597" cy="10436700"/>
              </a:xfrm>
              <a:prstGeom prst="rect">
                <a:avLst/>
              </a:prstGeom>
            </p:spPr>
            <p:txBody>
              <a:bodyPr lIns="27024" tIns="27024" rIns="27024" bIns="27024" rtlCol="0" anchor="ctr"/>
              <a:lstStyle/>
              <a:p>
                <a:pPr algn="ctr">
                  <a:lnSpc>
                    <a:spcPts val="2799"/>
                  </a:lnSpc>
                </a:pPr>
                <a:endParaRPr/>
              </a:p>
            </p:txBody>
          </p:sp>
        </p:grpSp>
        <p:grpSp>
          <p:nvGrpSpPr>
            <p:cNvPr id="6" name="Group 6"/>
            <p:cNvGrpSpPr/>
            <p:nvPr/>
          </p:nvGrpSpPr>
          <p:grpSpPr>
            <a:xfrm rot="-5400000">
              <a:off x="11686593" y="-6350975"/>
              <a:ext cx="4579528" cy="26822826"/>
              <a:chOff x="0" y="0"/>
              <a:chExt cx="1758210" cy="10298040"/>
            </a:xfrm>
          </p:grpSpPr>
          <p:sp>
            <p:nvSpPr>
              <p:cNvPr id="7" name="Freeform 7"/>
              <p:cNvSpPr/>
              <p:nvPr/>
            </p:nvSpPr>
            <p:spPr>
              <a:xfrm>
                <a:off x="0" y="0"/>
                <a:ext cx="1758210" cy="10298040"/>
              </a:xfrm>
              <a:custGeom>
                <a:avLst/>
                <a:gdLst/>
                <a:ahLst/>
                <a:cxnLst/>
                <a:rect l="l" t="t" r="r" b="b"/>
                <a:pathLst>
                  <a:path w="1758210" h="10298040">
                    <a:moveTo>
                      <a:pt x="0" y="0"/>
                    </a:moveTo>
                    <a:lnTo>
                      <a:pt x="1758210" y="0"/>
                    </a:lnTo>
                    <a:lnTo>
                      <a:pt x="1758210" y="10298040"/>
                    </a:lnTo>
                    <a:lnTo>
                      <a:pt x="0" y="10298040"/>
                    </a:lnTo>
                    <a:close/>
                  </a:path>
                </a:pathLst>
              </a:custGeom>
              <a:solidFill>
                <a:srgbClr val="94B6DA"/>
              </a:solidFill>
            </p:spPr>
          </p:sp>
          <p:sp>
            <p:nvSpPr>
              <p:cNvPr id="8" name="TextBox 8"/>
              <p:cNvSpPr txBox="1"/>
              <p:nvPr/>
            </p:nvSpPr>
            <p:spPr>
              <a:xfrm>
                <a:off x="0" y="-38100"/>
                <a:ext cx="1758210" cy="10336140"/>
              </a:xfrm>
              <a:prstGeom prst="rect">
                <a:avLst/>
              </a:prstGeom>
            </p:spPr>
            <p:txBody>
              <a:bodyPr lIns="27024" tIns="27024" rIns="27024" bIns="27024" rtlCol="0" anchor="ctr"/>
              <a:lstStyle/>
              <a:p>
                <a:pPr algn="ctr">
                  <a:lnSpc>
                    <a:spcPts val="2799"/>
                  </a:lnSpc>
                </a:pPr>
                <a:endParaRPr/>
              </a:p>
            </p:txBody>
          </p:sp>
        </p:grpSp>
      </p:grpSp>
      <p:grpSp>
        <p:nvGrpSpPr>
          <p:cNvPr id="9" name="Group 9"/>
          <p:cNvGrpSpPr/>
          <p:nvPr/>
        </p:nvGrpSpPr>
        <p:grpSpPr>
          <a:xfrm>
            <a:off x="731085" y="704460"/>
            <a:ext cx="16825830" cy="8968572"/>
            <a:chOff x="0" y="0"/>
            <a:chExt cx="22434440" cy="11958096"/>
          </a:xfrm>
        </p:grpSpPr>
        <p:grpSp>
          <p:nvGrpSpPr>
            <p:cNvPr id="10" name="Group 10"/>
            <p:cNvGrpSpPr/>
            <p:nvPr/>
          </p:nvGrpSpPr>
          <p:grpSpPr>
            <a:xfrm>
              <a:off x="26537" y="10323576"/>
              <a:ext cx="22386981" cy="1634520"/>
              <a:chOff x="0" y="0"/>
              <a:chExt cx="9809754" cy="716230"/>
            </a:xfrm>
          </p:grpSpPr>
          <p:sp>
            <p:nvSpPr>
              <p:cNvPr id="11" name="Freeform 11"/>
              <p:cNvSpPr/>
              <p:nvPr/>
            </p:nvSpPr>
            <p:spPr>
              <a:xfrm>
                <a:off x="0" y="0"/>
                <a:ext cx="9809754" cy="716230"/>
              </a:xfrm>
              <a:custGeom>
                <a:avLst/>
                <a:gdLst/>
                <a:ahLst/>
                <a:cxnLst/>
                <a:rect l="l" t="t" r="r" b="b"/>
                <a:pathLst>
                  <a:path w="9809754" h="716230">
                    <a:moveTo>
                      <a:pt x="0" y="0"/>
                    </a:moveTo>
                    <a:lnTo>
                      <a:pt x="9809754" y="0"/>
                    </a:lnTo>
                    <a:lnTo>
                      <a:pt x="9809754" y="716230"/>
                    </a:lnTo>
                    <a:lnTo>
                      <a:pt x="0" y="716230"/>
                    </a:lnTo>
                    <a:close/>
                  </a:path>
                </a:pathLst>
              </a:custGeom>
              <a:solidFill>
                <a:srgbClr val="20538B"/>
              </a:solidFill>
              <a:ln w="38100" cap="sq">
                <a:solidFill>
                  <a:srgbClr val="20538B"/>
                </a:solidFill>
                <a:prstDash val="solid"/>
                <a:miter/>
              </a:ln>
            </p:spPr>
          </p:sp>
          <p:sp>
            <p:nvSpPr>
              <p:cNvPr id="12" name="TextBox 12"/>
              <p:cNvSpPr txBox="1"/>
              <p:nvPr/>
            </p:nvSpPr>
            <p:spPr>
              <a:xfrm>
                <a:off x="0" y="-47625"/>
                <a:ext cx="9809754" cy="763855"/>
              </a:xfrm>
              <a:prstGeom prst="rect">
                <a:avLst/>
              </a:prstGeom>
            </p:spPr>
            <p:txBody>
              <a:bodyPr lIns="50800" tIns="50800" rIns="50800" bIns="50800" rtlCol="0" anchor="ctr"/>
              <a:lstStyle/>
              <a:p>
                <a:pPr algn="ctr">
                  <a:lnSpc>
                    <a:spcPts val="3163"/>
                  </a:lnSpc>
                </a:pPr>
                <a:endParaRPr/>
              </a:p>
            </p:txBody>
          </p:sp>
        </p:grpSp>
        <p:grpSp>
          <p:nvGrpSpPr>
            <p:cNvPr id="13" name="Group 13"/>
            <p:cNvGrpSpPr/>
            <p:nvPr/>
          </p:nvGrpSpPr>
          <p:grpSpPr>
            <a:xfrm>
              <a:off x="0" y="0"/>
              <a:ext cx="22434440" cy="11837441"/>
              <a:chOff x="0" y="0"/>
              <a:chExt cx="9818921" cy="5180914"/>
            </a:xfrm>
          </p:grpSpPr>
          <p:sp>
            <p:nvSpPr>
              <p:cNvPr id="14" name="Freeform 14"/>
              <p:cNvSpPr/>
              <p:nvPr/>
            </p:nvSpPr>
            <p:spPr>
              <a:xfrm>
                <a:off x="0" y="0"/>
                <a:ext cx="9818922" cy="5180914"/>
              </a:xfrm>
              <a:custGeom>
                <a:avLst/>
                <a:gdLst/>
                <a:ahLst/>
                <a:cxnLst/>
                <a:rect l="l" t="t" r="r" b="b"/>
                <a:pathLst>
                  <a:path w="9818922" h="5180914">
                    <a:moveTo>
                      <a:pt x="0" y="0"/>
                    </a:moveTo>
                    <a:lnTo>
                      <a:pt x="9818922" y="0"/>
                    </a:lnTo>
                    <a:lnTo>
                      <a:pt x="9818922" y="5180914"/>
                    </a:lnTo>
                    <a:lnTo>
                      <a:pt x="0" y="5180914"/>
                    </a:lnTo>
                    <a:close/>
                  </a:path>
                </a:pathLst>
              </a:custGeom>
              <a:solidFill>
                <a:srgbClr val="FFFFFF"/>
              </a:solidFill>
              <a:ln w="38100" cap="sq">
                <a:solidFill>
                  <a:srgbClr val="20538B"/>
                </a:solidFill>
                <a:prstDash val="solid"/>
                <a:miter/>
              </a:ln>
            </p:spPr>
          </p:sp>
          <p:sp>
            <p:nvSpPr>
              <p:cNvPr id="15" name="TextBox 15"/>
              <p:cNvSpPr txBox="1"/>
              <p:nvPr/>
            </p:nvSpPr>
            <p:spPr>
              <a:xfrm>
                <a:off x="0" y="-47625"/>
                <a:ext cx="9818921" cy="5228539"/>
              </a:xfrm>
              <a:prstGeom prst="rect">
                <a:avLst/>
              </a:prstGeom>
            </p:spPr>
            <p:txBody>
              <a:bodyPr lIns="50800" tIns="50800" rIns="50800" bIns="50800" rtlCol="0" anchor="ctr"/>
              <a:lstStyle/>
              <a:p>
                <a:pPr algn="ctr">
                  <a:lnSpc>
                    <a:spcPts val="3163"/>
                  </a:lnSpc>
                </a:pPr>
                <a:endParaRPr/>
              </a:p>
            </p:txBody>
          </p:sp>
        </p:grpSp>
      </p:grpSp>
      <p:sp>
        <p:nvSpPr>
          <p:cNvPr id="16" name="Freeform 16"/>
          <p:cNvSpPr/>
          <p:nvPr/>
        </p:nvSpPr>
        <p:spPr>
          <a:xfrm>
            <a:off x="15531691" y="160918"/>
            <a:ext cx="996214" cy="1021758"/>
          </a:xfrm>
          <a:custGeom>
            <a:avLst/>
            <a:gdLst/>
            <a:ahLst/>
            <a:cxnLst/>
            <a:rect l="l" t="t" r="r" b="b"/>
            <a:pathLst>
              <a:path w="996214" h="1021758">
                <a:moveTo>
                  <a:pt x="0" y="0"/>
                </a:moveTo>
                <a:lnTo>
                  <a:pt x="996214" y="0"/>
                </a:lnTo>
                <a:lnTo>
                  <a:pt x="996214" y="1021758"/>
                </a:lnTo>
                <a:lnTo>
                  <a:pt x="0" y="1021758"/>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7" name="AutoShape 17"/>
          <p:cNvSpPr/>
          <p:nvPr/>
        </p:nvSpPr>
        <p:spPr>
          <a:xfrm>
            <a:off x="13581160" y="7532590"/>
            <a:ext cx="3028389" cy="0"/>
          </a:xfrm>
          <a:prstGeom prst="line">
            <a:avLst/>
          </a:prstGeom>
          <a:ln w="19050" cap="flat">
            <a:solidFill>
              <a:srgbClr val="94B6DA"/>
            </a:solidFill>
            <a:prstDash val="solid"/>
            <a:headEnd type="none" w="sm" len="sm"/>
            <a:tailEnd type="none" w="sm" len="sm"/>
          </a:ln>
        </p:spPr>
      </p:sp>
      <p:sp>
        <p:nvSpPr>
          <p:cNvPr id="18" name="AutoShape 18"/>
          <p:cNvSpPr/>
          <p:nvPr/>
        </p:nvSpPr>
        <p:spPr>
          <a:xfrm flipV="1">
            <a:off x="13581160" y="9122392"/>
            <a:ext cx="3028389" cy="0"/>
          </a:xfrm>
          <a:prstGeom prst="line">
            <a:avLst/>
          </a:prstGeom>
          <a:ln w="19050" cap="flat">
            <a:solidFill>
              <a:srgbClr val="94B6DA"/>
            </a:solidFill>
            <a:prstDash val="solid"/>
            <a:headEnd type="none" w="sm" len="sm"/>
            <a:tailEnd type="none" w="sm" len="sm"/>
          </a:ln>
        </p:spPr>
      </p:sp>
      <p:sp>
        <p:nvSpPr>
          <p:cNvPr id="19" name="TextBox 19"/>
          <p:cNvSpPr txBox="1"/>
          <p:nvPr/>
        </p:nvSpPr>
        <p:spPr>
          <a:xfrm>
            <a:off x="5031533" y="3435349"/>
            <a:ext cx="8224934" cy="1708151"/>
          </a:xfrm>
          <a:prstGeom prst="rect">
            <a:avLst/>
          </a:prstGeom>
        </p:spPr>
        <p:txBody>
          <a:bodyPr lIns="0" tIns="0" rIns="0" bIns="0" rtlCol="0" anchor="t">
            <a:spAutoFit/>
          </a:bodyPr>
          <a:lstStyle/>
          <a:p>
            <a:pPr algn="ctr">
              <a:lnSpc>
                <a:spcPts val="13999"/>
              </a:lnSpc>
            </a:pPr>
            <a:r>
              <a:rPr lang="en-US" sz="9999" b="1">
                <a:solidFill>
                  <a:srgbClr val="20538B"/>
                </a:solidFill>
                <a:latin typeface="프리텐다드 Bold"/>
                <a:ea typeface="프리텐다드 Bold"/>
                <a:cs typeface="프리텐다드 Bold"/>
                <a:sym typeface="프리텐다드 Bold"/>
              </a:rPr>
              <a:t>DLL</a:t>
            </a:r>
          </a:p>
        </p:txBody>
      </p:sp>
      <p:sp>
        <p:nvSpPr>
          <p:cNvPr id="20" name="TextBox 20"/>
          <p:cNvSpPr txBox="1"/>
          <p:nvPr/>
        </p:nvSpPr>
        <p:spPr>
          <a:xfrm>
            <a:off x="13581160" y="7675219"/>
            <a:ext cx="3240664" cy="1123569"/>
          </a:xfrm>
          <a:prstGeom prst="rect">
            <a:avLst/>
          </a:prstGeom>
        </p:spPr>
        <p:txBody>
          <a:bodyPr lIns="0" tIns="0" rIns="0" bIns="0" rtlCol="0" anchor="t">
            <a:spAutoFit/>
          </a:bodyPr>
          <a:lstStyle/>
          <a:p>
            <a:pPr marL="259080" lvl="1" algn="l">
              <a:lnSpc>
                <a:spcPts val="4608"/>
              </a:lnSpc>
            </a:pPr>
            <a:r>
              <a:rPr lang="en-US" sz="2400" dirty="0" smtClean="0">
                <a:solidFill>
                  <a:srgbClr val="20538B"/>
                </a:solidFill>
                <a:latin typeface="프리텐다드"/>
                <a:ea typeface="프리텐다드"/>
                <a:cs typeface="프리텐다드"/>
                <a:sym typeface="프리텐다드"/>
              </a:rPr>
              <a:t>  </a:t>
            </a:r>
            <a:r>
              <a:rPr lang="en-US" sz="2400" dirty="0" err="1" smtClean="0">
                <a:solidFill>
                  <a:srgbClr val="20538B"/>
                </a:solidFill>
                <a:latin typeface="프리텐다드"/>
                <a:ea typeface="프리텐다드"/>
                <a:cs typeface="프리텐다드"/>
                <a:sym typeface="프리텐다드"/>
              </a:rPr>
              <a:t>발표자</a:t>
            </a:r>
            <a:r>
              <a:rPr lang="en-US" sz="2400" dirty="0" smtClean="0">
                <a:solidFill>
                  <a:srgbClr val="20538B"/>
                </a:solidFill>
                <a:latin typeface="프리텐다드"/>
                <a:ea typeface="프리텐다드"/>
                <a:cs typeface="프리텐다드"/>
                <a:sym typeface="프리텐다드"/>
              </a:rPr>
              <a:t> </a:t>
            </a:r>
            <a:r>
              <a:rPr lang="en-US" sz="2400" dirty="0">
                <a:solidFill>
                  <a:srgbClr val="20538B"/>
                </a:solidFill>
                <a:latin typeface="프리텐다드"/>
                <a:ea typeface="프리텐다드"/>
                <a:cs typeface="프리텐다드"/>
                <a:sym typeface="프리텐다드"/>
              </a:rPr>
              <a:t>: </a:t>
            </a:r>
            <a:r>
              <a:rPr lang="en-US" sz="2400" dirty="0" err="1">
                <a:solidFill>
                  <a:srgbClr val="20538B"/>
                </a:solidFill>
                <a:latin typeface="프리텐다드"/>
                <a:ea typeface="프리텐다드"/>
                <a:cs typeface="프리텐다드"/>
                <a:sym typeface="프리텐다드"/>
              </a:rPr>
              <a:t>김재홍</a:t>
            </a:r>
            <a:endParaRPr lang="en-US" sz="2400" dirty="0">
              <a:solidFill>
                <a:srgbClr val="20538B"/>
              </a:solidFill>
              <a:latin typeface="프리텐다드"/>
              <a:ea typeface="프리텐다드"/>
              <a:cs typeface="프리텐다드"/>
              <a:sym typeface="프리텐다드"/>
            </a:endParaRPr>
          </a:p>
          <a:p>
            <a:pPr algn="l">
              <a:lnSpc>
                <a:spcPts val="4608"/>
              </a:lnSpc>
            </a:pPr>
            <a:r>
              <a:rPr lang="en-US" sz="2400" dirty="0">
                <a:solidFill>
                  <a:srgbClr val="20538B"/>
                </a:solidFill>
                <a:latin typeface="프리텐다드"/>
                <a:ea typeface="프리텐다드"/>
                <a:cs typeface="프리텐다드"/>
                <a:sym typeface="프리텐다드"/>
              </a:rPr>
              <a:t>     (2021963020)</a:t>
            </a:r>
          </a:p>
        </p:txBody>
      </p:sp>
      <p:sp>
        <p:nvSpPr>
          <p:cNvPr id="21" name="TextBox 21"/>
          <p:cNvSpPr txBox="1"/>
          <p:nvPr/>
        </p:nvSpPr>
        <p:spPr>
          <a:xfrm>
            <a:off x="5031533" y="5019675"/>
            <a:ext cx="8224934" cy="1038209"/>
          </a:xfrm>
          <a:prstGeom prst="rect">
            <a:avLst/>
          </a:prstGeom>
        </p:spPr>
        <p:txBody>
          <a:bodyPr lIns="0" tIns="0" rIns="0" bIns="0" rtlCol="0" anchor="t">
            <a:spAutoFit/>
          </a:bodyPr>
          <a:lstStyle/>
          <a:p>
            <a:pPr algn="ctr">
              <a:lnSpc>
                <a:spcPts val="8400"/>
              </a:lnSpc>
            </a:pPr>
            <a:r>
              <a:rPr lang="en-US" sz="6000" b="1">
                <a:solidFill>
                  <a:srgbClr val="94B6DA"/>
                </a:solidFill>
                <a:latin typeface="프리텐다드 Bold"/>
                <a:ea typeface="프리텐다드 Bold"/>
                <a:cs typeface="프리텐다드 Bold"/>
                <a:sym typeface="프리텐다드 Bold"/>
              </a:rPr>
              <a:t>Dynamic-Link Library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06770" y="3274348"/>
            <a:ext cx="20540828" cy="7012652"/>
            <a:chOff x="0" y="0"/>
            <a:chExt cx="27387770" cy="9350202"/>
          </a:xfrm>
        </p:grpSpPr>
        <p:grpSp>
          <p:nvGrpSpPr>
            <p:cNvPr id="3" name="Group 3"/>
            <p:cNvGrpSpPr/>
            <p:nvPr/>
          </p:nvGrpSpPr>
          <p:grpSpPr>
            <a:xfrm rot="-5400000">
              <a:off x="11157038" y="-11157038"/>
              <a:ext cx="4770675" cy="27084750"/>
              <a:chOff x="0" y="0"/>
              <a:chExt cx="1831597" cy="10398600"/>
            </a:xfrm>
          </p:grpSpPr>
          <p:sp>
            <p:nvSpPr>
              <p:cNvPr id="4" name="Freeform 4"/>
              <p:cNvSpPr/>
              <p:nvPr/>
            </p:nvSpPr>
            <p:spPr>
              <a:xfrm>
                <a:off x="0" y="0"/>
                <a:ext cx="1831597" cy="10398600"/>
              </a:xfrm>
              <a:custGeom>
                <a:avLst/>
                <a:gdLst/>
                <a:ahLst/>
                <a:cxnLst/>
                <a:rect l="l" t="t" r="r" b="b"/>
                <a:pathLst>
                  <a:path w="1831597" h="10398600">
                    <a:moveTo>
                      <a:pt x="0" y="0"/>
                    </a:moveTo>
                    <a:lnTo>
                      <a:pt x="1831597" y="0"/>
                    </a:lnTo>
                    <a:lnTo>
                      <a:pt x="1831597" y="10398600"/>
                    </a:lnTo>
                    <a:lnTo>
                      <a:pt x="0" y="10398600"/>
                    </a:lnTo>
                    <a:close/>
                  </a:path>
                </a:pathLst>
              </a:custGeom>
              <a:solidFill>
                <a:srgbClr val="CBDDEF"/>
              </a:solidFill>
            </p:spPr>
          </p:sp>
          <p:sp>
            <p:nvSpPr>
              <p:cNvPr id="5" name="TextBox 5"/>
              <p:cNvSpPr txBox="1"/>
              <p:nvPr/>
            </p:nvSpPr>
            <p:spPr>
              <a:xfrm>
                <a:off x="0" y="-38100"/>
                <a:ext cx="1831597" cy="10436700"/>
              </a:xfrm>
              <a:prstGeom prst="rect">
                <a:avLst/>
              </a:prstGeom>
            </p:spPr>
            <p:txBody>
              <a:bodyPr lIns="27024" tIns="27024" rIns="27024" bIns="27024" rtlCol="0" anchor="ctr"/>
              <a:lstStyle/>
              <a:p>
                <a:pPr algn="ctr">
                  <a:lnSpc>
                    <a:spcPts val="2799"/>
                  </a:lnSpc>
                </a:pPr>
                <a:endParaRPr/>
              </a:p>
            </p:txBody>
          </p:sp>
        </p:grpSp>
        <p:grpSp>
          <p:nvGrpSpPr>
            <p:cNvPr id="6" name="Group 6"/>
            <p:cNvGrpSpPr/>
            <p:nvPr/>
          </p:nvGrpSpPr>
          <p:grpSpPr>
            <a:xfrm rot="-5400000">
              <a:off x="11686593" y="-6350975"/>
              <a:ext cx="4579528" cy="26822826"/>
              <a:chOff x="0" y="0"/>
              <a:chExt cx="1758210" cy="10298040"/>
            </a:xfrm>
          </p:grpSpPr>
          <p:sp>
            <p:nvSpPr>
              <p:cNvPr id="7" name="Freeform 7"/>
              <p:cNvSpPr/>
              <p:nvPr/>
            </p:nvSpPr>
            <p:spPr>
              <a:xfrm>
                <a:off x="0" y="0"/>
                <a:ext cx="1758210" cy="10298040"/>
              </a:xfrm>
              <a:custGeom>
                <a:avLst/>
                <a:gdLst/>
                <a:ahLst/>
                <a:cxnLst/>
                <a:rect l="l" t="t" r="r" b="b"/>
                <a:pathLst>
                  <a:path w="1758210" h="10298040">
                    <a:moveTo>
                      <a:pt x="0" y="0"/>
                    </a:moveTo>
                    <a:lnTo>
                      <a:pt x="1758210" y="0"/>
                    </a:lnTo>
                    <a:lnTo>
                      <a:pt x="1758210" y="10298040"/>
                    </a:lnTo>
                    <a:lnTo>
                      <a:pt x="0" y="10298040"/>
                    </a:lnTo>
                    <a:close/>
                  </a:path>
                </a:pathLst>
              </a:custGeom>
              <a:solidFill>
                <a:srgbClr val="94B6DA"/>
              </a:solidFill>
            </p:spPr>
          </p:sp>
          <p:sp>
            <p:nvSpPr>
              <p:cNvPr id="8" name="TextBox 8"/>
              <p:cNvSpPr txBox="1"/>
              <p:nvPr/>
            </p:nvSpPr>
            <p:spPr>
              <a:xfrm>
                <a:off x="0" y="-38100"/>
                <a:ext cx="1758210" cy="10336140"/>
              </a:xfrm>
              <a:prstGeom prst="rect">
                <a:avLst/>
              </a:prstGeom>
            </p:spPr>
            <p:txBody>
              <a:bodyPr lIns="27024" tIns="27024" rIns="27024" bIns="27024" rtlCol="0" anchor="ctr"/>
              <a:lstStyle/>
              <a:p>
                <a:pPr algn="ctr">
                  <a:lnSpc>
                    <a:spcPts val="2799"/>
                  </a:lnSpc>
                </a:pPr>
                <a:endParaRPr/>
              </a:p>
            </p:txBody>
          </p:sp>
        </p:grpSp>
      </p:grpSp>
      <p:grpSp>
        <p:nvGrpSpPr>
          <p:cNvPr id="9" name="Group 9"/>
          <p:cNvGrpSpPr/>
          <p:nvPr/>
        </p:nvGrpSpPr>
        <p:grpSpPr>
          <a:xfrm>
            <a:off x="731085" y="704460"/>
            <a:ext cx="16825830" cy="8968572"/>
            <a:chOff x="0" y="0"/>
            <a:chExt cx="22434440" cy="11958096"/>
          </a:xfrm>
        </p:grpSpPr>
        <p:grpSp>
          <p:nvGrpSpPr>
            <p:cNvPr id="10" name="Group 10"/>
            <p:cNvGrpSpPr/>
            <p:nvPr/>
          </p:nvGrpSpPr>
          <p:grpSpPr>
            <a:xfrm>
              <a:off x="26537" y="10323576"/>
              <a:ext cx="22386981" cy="1634520"/>
              <a:chOff x="0" y="0"/>
              <a:chExt cx="9809754" cy="716230"/>
            </a:xfrm>
          </p:grpSpPr>
          <p:sp>
            <p:nvSpPr>
              <p:cNvPr id="11" name="Freeform 11"/>
              <p:cNvSpPr/>
              <p:nvPr/>
            </p:nvSpPr>
            <p:spPr>
              <a:xfrm>
                <a:off x="0" y="0"/>
                <a:ext cx="9809754" cy="716230"/>
              </a:xfrm>
              <a:custGeom>
                <a:avLst/>
                <a:gdLst/>
                <a:ahLst/>
                <a:cxnLst/>
                <a:rect l="l" t="t" r="r" b="b"/>
                <a:pathLst>
                  <a:path w="9809754" h="716230">
                    <a:moveTo>
                      <a:pt x="0" y="0"/>
                    </a:moveTo>
                    <a:lnTo>
                      <a:pt x="9809754" y="0"/>
                    </a:lnTo>
                    <a:lnTo>
                      <a:pt x="9809754" y="716230"/>
                    </a:lnTo>
                    <a:lnTo>
                      <a:pt x="0" y="716230"/>
                    </a:lnTo>
                    <a:close/>
                  </a:path>
                </a:pathLst>
              </a:custGeom>
              <a:solidFill>
                <a:srgbClr val="20538B"/>
              </a:solidFill>
              <a:ln w="38100" cap="sq">
                <a:solidFill>
                  <a:srgbClr val="20538B"/>
                </a:solidFill>
                <a:prstDash val="solid"/>
                <a:miter/>
              </a:ln>
            </p:spPr>
          </p:sp>
          <p:sp>
            <p:nvSpPr>
              <p:cNvPr id="12" name="TextBox 12"/>
              <p:cNvSpPr txBox="1"/>
              <p:nvPr/>
            </p:nvSpPr>
            <p:spPr>
              <a:xfrm>
                <a:off x="0" y="-47625"/>
                <a:ext cx="9809754" cy="763855"/>
              </a:xfrm>
              <a:prstGeom prst="rect">
                <a:avLst/>
              </a:prstGeom>
            </p:spPr>
            <p:txBody>
              <a:bodyPr lIns="50800" tIns="50800" rIns="50800" bIns="50800" rtlCol="0" anchor="ctr"/>
              <a:lstStyle/>
              <a:p>
                <a:pPr algn="ctr">
                  <a:lnSpc>
                    <a:spcPts val="3163"/>
                  </a:lnSpc>
                </a:pPr>
                <a:endParaRPr/>
              </a:p>
            </p:txBody>
          </p:sp>
        </p:grpSp>
        <p:grpSp>
          <p:nvGrpSpPr>
            <p:cNvPr id="13" name="Group 13"/>
            <p:cNvGrpSpPr/>
            <p:nvPr/>
          </p:nvGrpSpPr>
          <p:grpSpPr>
            <a:xfrm>
              <a:off x="0" y="0"/>
              <a:ext cx="22434440" cy="11837441"/>
              <a:chOff x="0" y="0"/>
              <a:chExt cx="9818921" cy="5180914"/>
            </a:xfrm>
          </p:grpSpPr>
          <p:sp>
            <p:nvSpPr>
              <p:cNvPr id="14" name="Freeform 14"/>
              <p:cNvSpPr/>
              <p:nvPr/>
            </p:nvSpPr>
            <p:spPr>
              <a:xfrm>
                <a:off x="0" y="0"/>
                <a:ext cx="9818922" cy="5180914"/>
              </a:xfrm>
              <a:custGeom>
                <a:avLst/>
                <a:gdLst/>
                <a:ahLst/>
                <a:cxnLst/>
                <a:rect l="l" t="t" r="r" b="b"/>
                <a:pathLst>
                  <a:path w="9818922" h="5180914">
                    <a:moveTo>
                      <a:pt x="0" y="0"/>
                    </a:moveTo>
                    <a:lnTo>
                      <a:pt x="9818922" y="0"/>
                    </a:lnTo>
                    <a:lnTo>
                      <a:pt x="9818922" y="5180914"/>
                    </a:lnTo>
                    <a:lnTo>
                      <a:pt x="0" y="5180914"/>
                    </a:lnTo>
                    <a:close/>
                  </a:path>
                </a:pathLst>
              </a:custGeom>
              <a:solidFill>
                <a:srgbClr val="FFFFFF"/>
              </a:solidFill>
              <a:ln w="38100" cap="sq">
                <a:solidFill>
                  <a:srgbClr val="20538B"/>
                </a:solidFill>
                <a:prstDash val="solid"/>
                <a:miter/>
              </a:ln>
            </p:spPr>
          </p:sp>
          <p:sp>
            <p:nvSpPr>
              <p:cNvPr id="15" name="TextBox 15"/>
              <p:cNvSpPr txBox="1"/>
              <p:nvPr/>
            </p:nvSpPr>
            <p:spPr>
              <a:xfrm>
                <a:off x="0" y="-47625"/>
                <a:ext cx="9818921" cy="5228539"/>
              </a:xfrm>
              <a:prstGeom prst="rect">
                <a:avLst/>
              </a:prstGeom>
            </p:spPr>
            <p:txBody>
              <a:bodyPr lIns="50800" tIns="50800" rIns="50800" bIns="50800" rtlCol="0" anchor="ctr"/>
              <a:lstStyle/>
              <a:p>
                <a:pPr algn="ctr">
                  <a:lnSpc>
                    <a:spcPts val="3163"/>
                  </a:lnSpc>
                </a:pPr>
                <a:endParaRPr/>
              </a:p>
            </p:txBody>
          </p:sp>
        </p:grpSp>
        <p:grpSp>
          <p:nvGrpSpPr>
            <p:cNvPr id="16" name="Group 16"/>
            <p:cNvGrpSpPr/>
            <p:nvPr/>
          </p:nvGrpSpPr>
          <p:grpSpPr>
            <a:xfrm>
              <a:off x="19722" y="19722"/>
              <a:ext cx="4321924" cy="11809361"/>
              <a:chOff x="0" y="0"/>
              <a:chExt cx="1659615" cy="4534786"/>
            </a:xfrm>
          </p:grpSpPr>
          <p:sp>
            <p:nvSpPr>
              <p:cNvPr id="17" name="Freeform 17"/>
              <p:cNvSpPr/>
              <p:nvPr/>
            </p:nvSpPr>
            <p:spPr>
              <a:xfrm>
                <a:off x="0" y="0"/>
                <a:ext cx="1659615" cy="4534786"/>
              </a:xfrm>
              <a:custGeom>
                <a:avLst/>
                <a:gdLst/>
                <a:ahLst/>
                <a:cxnLst/>
                <a:rect l="l" t="t" r="r" b="b"/>
                <a:pathLst>
                  <a:path w="1659615" h="4534786">
                    <a:moveTo>
                      <a:pt x="0" y="0"/>
                    </a:moveTo>
                    <a:lnTo>
                      <a:pt x="1659615" y="0"/>
                    </a:lnTo>
                    <a:lnTo>
                      <a:pt x="1659615" y="4534786"/>
                    </a:lnTo>
                    <a:lnTo>
                      <a:pt x="0" y="4534786"/>
                    </a:lnTo>
                    <a:close/>
                  </a:path>
                </a:pathLst>
              </a:custGeom>
              <a:solidFill>
                <a:srgbClr val="EEF6FF"/>
              </a:solidFill>
              <a:ln w="19050" cap="sq">
                <a:solidFill>
                  <a:srgbClr val="20538B"/>
                </a:solidFill>
                <a:prstDash val="solid"/>
                <a:miter/>
              </a:ln>
            </p:spPr>
          </p:sp>
          <p:sp>
            <p:nvSpPr>
              <p:cNvPr id="18" name="TextBox 18"/>
              <p:cNvSpPr txBox="1"/>
              <p:nvPr/>
            </p:nvSpPr>
            <p:spPr>
              <a:xfrm>
                <a:off x="0" y="-38100"/>
                <a:ext cx="1659615" cy="4572886"/>
              </a:xfrm>
              <a:prstGeom prst="rect">
                <a:avLst/>
              </a:prstGeom>
            </p:spPr>
            <p:txBody>
              <a:bodyPr lIns="39198" tIns="39198" rIns="39198" bIns="39198" rtlCol="0" anchor="ctr"/>
              <a:lstStyle/>
              <a:p>
                <a:pPr algn="ctr">
                  <a:lnSpc>
                    <a:spcPts val="2799"/>
                  </a:lnSpc>
                </a:pPr>
                <a:endParaRPr/>
              </a:p>
            </p:txBody>
          </p:sp>
        </p:grpSp>
      </p:grpSp>
      <p:sp>
        <p:nvSpPr>
          <p:cNvPr id="19" name="Freeform 19"/>
          <p:cNvSpPr/>
          <p:nvPr/>
        </p:nvSpPr>
        <p:spPr>
          <a:xfrm>
            <a:off x="15531691" y="160918"/>
            <a:ext cx="996214" cy="1021758"/>
          </a:xfrm>
          <a:custGeom>
            <a:avLst/>
            <a:gdLst/>
            <a:ahLst/>
            <a:cxnLst/>
            <a:rect l="l" t="t" r="r" b="b"/>
            <a:pathLst>
              <a:path w="996214" h="1021758">
                <a:moveTo>
                  <a:pt x="0" y="0"/>
                </a:moveTo>
                <a:lnTo>
                  <a:pt x="996214" y="0"/>
                </a:lnTo>
                <a:lnTo>
                  <a:pt x="996214" y="1021758"/>
                </a:lnTo>
                <a:lnTo>
                  <a:pt x="0" y="1021758"/>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20" name="TextBox 20"/>
          <p:cNvSpPr txBox="1"/>
          <p:nvPr/>
        </p:nvSpPr>
        <p:spPr>
          <a:xfrm>
            <a:off x="1039353" y="1982614"/>
            <a:ext cx="2672356" cy="1019175"/>
          </a:xfrm>
          <a:prstGeom prst="rect">
            <a:avLst/>
          </a:prstGeom>
        </p:spPr>
        <p:txBody>
          <a:bodyPr lIns="0" tIns="0" rIns="0" bIns="0" rtlCol="0" anchor="t">
            <a:spAutoFit/>
          </a:bodyPr>
          <a:lstStyle/>
          <a:p>
            <a:pPr algn="ctr">
              <a:lnSpc>
                <a:spcPts val="8399"/>
              </a:lnSpc>
            </a:pPr>
            <a:r>
              <a:rPr lang="en-US" sz="5999" b="1">
                <a:solidFill>
                  <a:srgbClr val="20538B"/>
                </a:solidFill>
                <a:latin typeface="프리텐다드 Bold"/>
                <a:ea typeface="프리텐다드 Bold"/>
                <a:cs typeface="프리텐다드 Bold"/>
                <a:sym typeface="프리텐다드 Bold"/>
              </a:rPr>
              <a:t>목차</a:t>
            </a:r>
          </a:p>
        </p:txBody>
      </p:sp>
      <p:sp>
        <p:nvSpPr>
          <p:cNvPr id="21" name="AutoShape 21"/>
          <p:cNvSpPr/>
          <p:nvPr/>
        </p:nvSpPr>
        <p:spPr>
          <a:xfrm>
            <a:off x="8284747" y="3198229"/>
            <a:ext cx="4128456" cy="0"/>
          </a:xfrm>
          <a:prstGeom prst="line">
            <a:avLst/>
          </a:prstGeom>
          <a:ln w="28575" cap="flat">
            <a:solidFill>
              <a:srgbClr val="CBDDEF"/>
            </a:solidFill>
            <a:prstDash val="solid"/>
            <a:headEnd type="none" w="sm" len="sm"/>
            <a:tailEnd type="none" w="sm" len="sm"/>
          </a:ln>
        </p:spPr>
      </p:sp>
      <p:sp>
        <p:nvSpPr>
          <p:cNvPr id="22" name="TextBox 22"/>
          <p:cNvSpPr txBox="1"/>
          <p:nvPr/>
        </p:nvSpPr>
        <p:spPr>
          <a:xfrm>
            <a:off x="8972488" y="2434177"/>
            <a:ext cx="3440716" cy="642401"/>
          </a:xfrm>
          <a:prstGeom prst="rect">
            <a:avLst/>
          </a:prstGeom>
        </p:spPr>
        <p:txBody>
          <a:bodyPr lIns="0" tIns="0" rIns="0" bIns="0" rtlCol="0" anchor="t">
            <a:spAutoFit/>
          </a:bodyPr>
          <a:lstStyle/>
          <a:p>
            <a:pPr algn="l">
              <a:lnSpc>
                <a:spcPts val="5576"/>
              </a:lnSpc>
            </a:pPr>
            <a:r>
              <a:rPr lang="en-US" sz="2904">
                <a:solidFill>
                  <a:srgbClr val="20538B"/>
                </a:solidFill>
                <a:latin typeface="프리텐다드"/>
                <a:ea typeface="프리텐다드"/>
                <a:cs typeface="프리텐다드"/>
                <a:sym typeface="프리텐다드"/>
              </a:rPr>
              <a:t>DLL이란?</a:t>
            </a:r>
          </a:p>
        </p:txBody>
      </p:sp>
      <p:sp>
        <p:nvSpPr>
          <p:cNvPr id="23" name="TextBox 23"/>
          <p:cNvSpPr txBox="1"/>
          <p:nvPr/>
        </p:nvSpPr>
        <p:spPr>
          <a:xfrm>
            <a:off x="8250939" y="2263601"/>
            <a:ext cx="535261" cy="898049"/>
          </a:xfrm>
          <a:prstGeom prst="rect">
            <a:avLst/>
          </a:prstGeom>
        </p:spPr>
        <p:txBody>
          <a:bodyPr lIns="0" tIns="0" rIns="0" bIns="0" rtlCol="0" anchor="t">
            <a:spAutoFit/>
          </a:bodyPr>
          <a:lstStyle/>
          <a:p>
            <a:pPr algn="l">
              <a:lnSpc>
                <a:spcPts val="7714"/>
              </a:lnSpc>
            </a:pPr>
            <a:r>
              <a:rPr lang="en-US" sz="4017" b="1">
                <a:solidFill>
                  <a:srgbClr val="CBDDEF"/>
                </a:solidFill>
                <a:latin typeface="프리텐다드 Bold"/>
                <a:ea typeface="프리텐다드 Bold"/>
                <a:cs typeface="프리텐다드 Bold"/>
                <a:sym typeface="프리텐다드 Bold"/>
              </a:rPr>
              <a:t>1.</a:t>
            </a:r>
          </a:p>
        </p:txBody>
      </p:sp>
      <p:sp>
        <p:nvSpPr>
          <p:cNvPr id="24" name="AutoShape 24"/>
          <p:cNvSpPr/>
          <p:nvPr/>
        </p:nvSpPr>
        <p:spPr>
          <a:xfrm>
            <a:off x="8284747" y="4332017"/>
            <a:ext cx="4128456" cy="0"/>
          </a:xfrm>
          <a:prstGeom prst="line">
            <a:avLst/>
          </a:prstGeom>
          <a:ln w="28575" cap="flat">
            <a:solidFill>
              <a:srgbClr val="CBDDEF"/>
            </a:solidFill>
            <a:prstDash val="solid"/>
            <a:headEnd type="none" w="sm" len="sm"/>
            <a:tailEnd type="none" w="sm" len="sm"/>
          </a:ln>
        </p:spPr>
      </p:sp>
      <p:sp>
        <p:nvSpPr>
          <p:cNvPr id="25" name="TextBox 25"/>
          <p:cNvSpPr txBox="1"/>
          <p:nvPr/>
        </p:nvSpPr>
        <p:spPr>
          <a:xfrm>
            <a:off x="8972488" y="3567965"/>
            <a:ext cx="3609991" cy="642401"/>
          </a:xfrm>
          <a:prstGeom prst="rect">
            <a:avLst/>
          </a:prstGeom>
        </p:spPr>
        <p:txBody>
          <a:bodyPr lIns="0" tIns="0" rIns="0" bIns="0" rtlCol="0" anchor="t">
            <a:spAutoFit/>
          </a:bodyPr>
          <a:lstStyle/>
          <a:p>
            <a:pPr algn="l">
              <a:lnSpc>
                <a:spcPts val="5576"/>
              </a:lnSpc>
            </a:pPr>
            <a:r>
              <a:rPr lang="en-US" sz="2904">
                <a:solidFill>
                  <a:srgbClr val="20538B"/>
                </a:solidFill>
                <a:latin typeface="프리텐다드"/>
                <a:ea typeface="프리텐다드"/>
                <a:cs typeface="프리텐다드"/>
                <a:sym typeface="프리텐다드"/>
              </a:rPr>
              <a:t>DLL을 사용하는 이유</a:t>
            </a:r>
          </a:p>
        </p:txBody>
      </p:sp>
      <p:sp>
        <p:nvSpPr>
          <p:cNvPr id="26" name="TextBox 26"/>
          <p:cNvSpPr txBox="1"/>
          <p:nvPr/>
        </p:nvSpPr>
        <p:spPr>
          <a:xfrm>
            <a:off x="8250939" y="3397389"/>
            <a:ext cx="535261" cy="898049"/>
          </a:xfrm>
          <a:prstGeom prst="rect">
            <a:avLst/>
          </a:prstGeom>
        </p:spPr>
        <p:txBody>
          <a:bodyPr lIns="0" tIns="0" rIns="0" bIns="0" rtlCol="0" anchor="t">
            <a:spAutoFit/>
          </a:bodyPr>
          <a:lstStyle/>
          <a:p>
            <a:pPr algn="l">
              <a:lnSpc>
                <a:spcPts val="7714"/>
              </a:lnSpc>
            </a:pPr>
            <a:r>
              <a:rPr lang="en-US" sz="4017" b="1">
                <a:solidFill>
                  <a:srgbClr val="CBDDEF"/>
                </a:solidFill>
                <a:latin typeface="프리텐다드 Bold"/>
                <a:ea typeface="프리텐다드 Bold"/>
                <a:cs typeface="프리텐다드 Bold"/>
                <a:sym typeface="프리텐다드 Bold"/>
              </a:rPr>
              <a:t>2.</a:t>
            </a:r>
          </a:p>
        </p:txBody>
      </p:sp>
      <p:sp>
        <p:nvSpPr>
          <p:cNvPr id="27" name="AutoShape 27"/>
          <p:cNvSpPr/>
          <p:nvPr/>
        </p:nvSpPr>
        <p:spPr>
          <a:xfrm>
            <a:off x="8284747" y="5467751"/>
            <a:ext cx="4128456" cy="0"/>
          </a:xfrm>
          <a:prstGeom prst="line">
            <a:avLst/>
          </a:prstGeom>
          <a:ln w="28575" cap="flat">
            <a:solidFill>
              <a:srgbClr val="CBDDEF"/>
            </a:solidFill>
            <a:prstDash val="solid"/>
            <a:headEnd type="none" w="sm" len="sm"/>
            <a:tailEnd type="none" w="sm" len="sm"/>
          </a:ln>
        </p:spPr>
      </p:sp>
      <p:sp>
        <p:nvSpPr>
          <p:cNvPr id="28" name="TextBox 28"/>
          <p:cNvSpPr txBox="1"/>
          <p:nvPr/>
        </p:nvSpPr>
        <p:spPr>
          <a:xfrm>
            <a:off x="8972488" y="4703700"/>
            <a:ext cx="3440716" cy="642401"/>
          </a:xfrm>
          <a:prstGeom prst="rect">
            <a:avLst/>
          </a:prstGeom>
        </p:spPr>
        <p:txBody>
          <a:bodyPr lIns="0" tIns="0" rIns="0" bIns="0" rtlCol="0" anchor="t">
            <a:spAutoFit/>
          </a:bodyPr>
          <a:lstStyle/>
          <a:p>
            <a:pPr algn="l">
              <a:lnSpc>
                <a:spcPts val="5576"/>
              </a:lnSpc>
            </a:pPr>
            <a:r>
              <a:rPr lang="en-US" sz="2904">
                <a:solidFill>
                  <a:srgbClr val="20538B"/>
                </a:solidFill>
                <a:latin typeface="프리텐다드"/>
                <a:ea typeface="프리텐다드"/>
                <a:cs typeface="프리텐다드"/>
                <a:sym typeface="프리텐다드"/>
              </a:rPr>
              <a:t>어셈블리의 함수 호출</a:t>
            </a:r>
          </a:p>
        </p:txBody>
      </p:sp>
      <p:sp>
        <p:nvSpPr>
          <p:cNvPr id="29" name="TextBox 29"/>
          <p:cNvSpPr txBox="1"/>
          <p:nvPr/>
        </p:nvSpPr>
        <p:spPr>
          <a:xfrm>
            <a:off x="8250939" y="4533123"/>
            <a:ext cx="535261" cy="898049"/>
          </a:xfrm>
          <a:prstGeom prst="rect">
            <a:avLst/>
          </a:prstGeom>
        </p:spPr>
        <p:txBody>
          <a:bodyPr lIns="0" tIns="0" rIns="0" bIns="0" rtlCol="0" anchor="t">
            <a:spAutoFit/>
          </a:bodyPr>
          <a:lstStyle/>
          <a:p>
            <a:pPr algn="l">
              <a:lnSpc>
                <a:spcPts val="7714"/>
              </a:lnSpc>
            </a:pPr>
            <a:r>
              <a:rPr lang="en-US" sz="4017" b="1">
                <a:solidFill>
                  <a:srgbClr val="CBDDEF"/>
                </a:solidFill>
                <a:latin typeface="프리텐다드 Bold"/>
                <a:ea typeface="프리텐다드 Bold"/>
                <a:cs typeface="프리텐다드 Bold"/>
                <a:sym typeface="프리텐다드 Bold"/>
              </a:rPr>
              <a:t>3.</a:t>
            </a:r>
          </a:p>
        </p:txBody>
      </p:sp>
      <p:sp>
        <p:nvSpPr>
          <p:cNvPr id="30" name="AutoShape 30"/>
          <p:cNvSpPr/>
          <p:nvPr/>
        </p:nvSpPr>
        <p:spPr>
          <a:xfrm>
            <a:off x="8284747" y="6603486"/>
            <a:ext cx="4128456" cy="0"/>
          </a:xfrm>
          <a:prstGeom prst="line">
            <a:avLst/>
          </a:prstGeom>
          <a:ln w="28575" cap="flat">
            <a:solidFill>
              <a:srgbClr val="CBDDEF"/>
            </a:solidFill>
            <a:prstDash val="solid"/>
            <a:headEnd type="none" w="sm" len="sm"/>
            <a:tailEnd type="none" w="sm" len="sm"/>
          </a:ln>
        </p:spPr>
      </p:sp>
      <p:sp>
        <p:nvSpPr>
          <p:cNvPr id="31" name="TextBox 31"/>
          <p:cNvSpPr txBox="1"/>
          <p:nvPr/>
        </p:nvSpPr>
        <p:spPr>
          <a:xfrm>
            <a:off x="8972488" y="5839434"/>
            <a:ext cx="3609991" cy="642401"/>
          </a:xfrm>
          <a:prstGeom prst="rect">
            <a:avLst/>
          </a:prstGeom>
        </p:spPr>
        <p:txBody>
          <a:bodyPr lIns="0" tIns="0" rIns="0" bIns="0" rtlCol="0" anchor="t">
            <a:spAutoFit/>
          </a:bodyPr>
          <a:lstStyle/>
          <a:p>
            <a:pPr algn="l">
              <a:lnSpc>
                <a:spcPts val="5576"/>
              </a:lnSpc>
            </a:pPr>
            <a:r>
              <a:rPr lang="en-US" sz="2904">
                <a:solidFill>
                  <a:srgbClr val="20538B"/>
                </a:solidFill>
                <a:latin typeface="프리텐다드"/>
                <a:ea typeface="프리텐다드"/>
                <a:cs typeface="프리텐다드"/>
                <a:sym typeface="프리텐다드"/>
              </a:rPr>
              <a:t>DLL의 연결 과정</a:t>
            </a:r>
          </a:p>
        </p:txBody>
      </p:sp>
      <p:sp>
        <p:nvSpPr>
          <p:cNvPr id="32" name="TextBox 32"/>
          <p:cNvSpPr txBox="1"/>
          <p:nvPr/>
        </p:nvSpPr>
        <p:spPr>
          <a:xfrm>
            <a:off x="8250939" y="5668858"/>
            <a:ext cx="535261" cy="898049"/>
          </a:xfrm>
          <a:prstGeom prst="rect">
            <a:avLst/>
          </a:prstGeom>
        </p:spPr>
        <p:txBody>
          <a:bodyPr lIns="0" tIns="0" rIns="0" bIns="0" rtlCol="0" anchor="t">
            <a:spAutoFit/>
          </a:bodyPr>
          <a:lstStyle/>
          <a:p>
            <a:pPr algn="l">
              <a:lnSpc>
                <a:spcPts val="7714"/>
              </a:lnSpc>
            </a:pPr>
            <a:r>
              <a:rPr lang="en-US" sz="4017" b="1">
                <a:solidFill>
                  <a:srgbClr val="CBDDEF"/>
                </a:solidFill>
                <a:latin typeface="프리텐다드 Bold"/>
                <a:ea typeface="프리텐다드 Bold"/>
                <a:cs typeface="프리텐다드 Bold"/>
                <a:sym typeface="프리텐다드 Bold"/>
              </a:rPr>
              <a:t>4.</a:t>
            </a:r>
          </a:p>
        </p:txBody>
      </p:sp>
      <p:sp>
        <p:nvSpPr>
          <p:cNvPr id="33" name="AutoShape 33"/>
          <p:cNvSpPr/>
          <p:nvPr/>
        </p:nvSpPr>
        <p:spPr>
          <a:xfrm>
            <a:off x="8284747" y="7744318"/>
            <a:ext cx="4128456" cy="0"/>
          </a:xfrm>
          <a:prstGeom prst="line">
            <a:avLst/>
          </a:prstGeom>
          <a:ln w="28575" cap="flat">
            <a:solidFill>
              <a:srgbClr val="CBDDEF"/>
            </a:solidFill>
            <a:prstDash val="solid"/>
            <a:headEnd type="none" w="sm" len="sm"/>
            <a:tailEnd type="none" w="sm" len="sm"/>
          </a:ln>
        </p:spPr>
      </p:sp>
      <p:sp>
        <p:nvSpPr>
          <p:cNvPr id="34" name="TextBox 34"/>
          <p:cNvSpPr txBox="1"/>
          <p:nvPr/>
        </p:nvSpPr>
        <p:spPr>
          <a:xfrm>
            <a:off x="8972488" y="6980267"/>
            <a:ext cx="3440716" cy="642401"/>
          </a:xfrm>
          <a:prstGeom prst="rect">
            <a:avLst/>
          </a:prstGeom>
        </p:spPr>
        <p:txBody>
          <a:bodyPr lIns="0" tIns="0" rIns="0" bIns="0" rtlCol="0" anchor="t">
            <a:spAutoFit/>
          </a:bodyPr>
          <a:lstStyle/>
          <a:p>
            <a:pPr algn="l">
              <a:lnSpc>
                <a:spcPts val="5576"/>
              </a:lnSpc>
            </a:pPr>
            <a:r>
              <a:rPr lang="en-US" sz="2904">
                <a:solidFill>
                  <a:srgbClr val="20538B"/>
                </a:solidFill>
                <a:latin typeface="프리텐다드"/>
                <a:ea typeface="프리텐다드"/>
                <a:cs typeface="프리텐다드"/>
                <a:sym typeface="프리텐다드"/>
              </a:rPr>
              <a:t>장단점 및 결론</a:t>
            </a:r>
          </a:p>
        </p:txBody>
      </p:sp>
      <p:sp>
        <p:nvSpPr>
          <p:cNvPr id="35" name="TextBox 35"/>
          <p:cNvSpPr txBox="1"/>
          <p:nvPr/>
        </p:nvSpPr>
        <p:spPr>
          <a:xfrm>
            <a:off x="8250939" y="6809690"/>
            <a:ext cx="535261" cy="898049"/>
          </a:xfrm>
          <a:prstGeom prst="rect">
            <a:avLst/>
          </a:prstGeom>
        </p:spPr>
        <p:txBody>
          <a:bodyPr lIns="0" tIns="0" rIns="0" bIns="0" rtlCol="0" anchor="t">
            <a:spAutoFit/>
          </a:bodyPr>
          <a:lstStyle/>
          <a:p>
            <a:pPr algn="l">
              <a:lnSpc>
                <a:spcPts val="7714"/>
              </a:lnSpc>
            </a:pPr>
            <a:r>
              <a:rPr lang="en-US" sz="4017" b="1">
                <a:solidFill>
                  <a:srgbClr val="CBDDEF"/>
                </a:solidFill>
                <a:latin typeface="프리텐다드 Bold"/>
                <a:ea typeface="프리텐다드 Bold"/>
                <a:cs typeface="프리텐다드 Bold"/>
                <a:sym typeface="프리텐다드 Bold"/>
              </a:rPr>
              <a:t>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06770" y="3274348"/>
            <a:ext cx="20540828" cy="7012652"/>
            <a:chOff x="0" y="0"/>
            <a:chExt cx="27387770" cy="9350202"/>
          </a:xfrm>
        </p:grpSpPr>
        <p:grpSp>
          <p:nvGrpSpPr>
            <p:cNvPr id="3" name="Group 3"/>
            <p:cNvGrpSpPr/>
            <p:nvPr/>
          </p:nvGrpSpPr>
          <p:grpSpPr>
            <a:xfrm rot="-5400000">
              <a:off x="11157038" y="-11157038"/>
              <a:ext cx="4770675" cy="27084750"/>
              <a:chOff x="0" y="0"/>
              <a:chExt cx="1831597" cy="10398600"/>
            </a:xfrm>
          </p:grpSpPr>
          <p:sp>
            <p:nvSpPr>
              <p:cNvPr id="4" name="Freeform 4"/>
              <p:cNvSpPr/>
              <p:nvPr/>
            </p:nvSpPr>
            <p:spPr>
              <a:xfrm>
                <a:off x="0" y="0"/>
                <a:ext cx="1831597" cy="10398600"/>
              </a:xfrm>
              <a:custGeom>
                <a:avLst/>
                <a:gdLst/>
                <a:ahLst/>
                <a:cxnLst/>
                <a:rect l="l" t="t" r="r" b="b"/>
                <a:pathLst>
                  <a:path w="1831597" h="10398600">
                    <a:moveTo>
                      <a:pt x="0" y="0"/>
                    </a:moveTo>
                    <a:lnTo>
                      <a:pt x="1831597" y="0"/>
                    </a:lnTo>
                    <a:lnTo>
                      <a:pt x="1831597" y="10398600"/>
                    </a:lnTo>
                    <a:lnTo>
                      <a:pt x="0" y="10398600"/>
                    </a:lnTo>
                    <a:close/>
                  </a:path>
                </a:pathLst>
              </a:custGeom>
              <a:solidFill>
                <a:srgbClr val="CBDDEF"/>
              </a:solidFill>
            </p:spPr>
          </p:sp>
          <p:sp>
            <p:nvSpPr>
              <p:cNvPr id="5" name="TextBox 5"/>
              <p:cNvSpPr txBox="1"/>
              <p:nvPr/>
            </p:nvSpPr>
            <p:spPr>
              <a:xfrm>
                <a:off x="0" y="-38100"/>
                <a:ext cx="1831597" cy="10436700"/>
              </a:xfrm>
              <a:prstGeom prst="rect">
                <a:avLst/>
              </a:prstGeom>
            </p:spPr>
            <p:txBody>
              <a:bodyPr lIns="27024" tIns="27024" rIns="27024" bIns="27024" rtlCol="0" anchor="ctr"/>
              <a:lstStyle/>
              <a:p>
                <a:pPr algn="ctr">
                  <a:lnSpc>
                    <a:spcPts val="2799"/>
                  </a:lnSpc>
                </a:pPr>
                <a:endParaRPr/>
              </a:p>
            </p:txBody>
          </p:sp>
        </p:grpSp>
        <p:grpSp>
          <p:nvGrpSpPr>
            <p:cNvPr id="6" name="Group 6"/>
            <p:cNvGrpSpPr/>
            <p:nvPr/>
          </p:nvGrpSpPr>
          <p:grpSpPr>
            <a:xfrm rot="-5400000">
              <a:off x="11686593" y="-6350975"/>
              <a:ext cx="4579528" cy="26822826"/>
              <a:chOff x="0" y="0"/>
              <a:chExt cx="1758210" cy="10298040"/>
            </a:xfrm>
          </p:grpSpPr>
          <p:sp>
            <p:nvSpPr>
              <p:cNvPr id="7" name="Freeform 7"/>
              <p:cNvSpPr/>
              <p:nvPr/>
            </p:nvSpPr>
            <p:spPr>
              <a:xfrm>
                <a:off x="0" y="0"/>
                <a:ext cx="1758210" cy="10298040"/>
              </a:xfrm>
              <a:custGeom>
                <a:avLst/>
                <a:gdLst/>
                <a:ahLst/>
                <a:cxnLst/>
                <a:rect l="l" t="t" r="r" b="b"/>
                <a:pathLst>
                  <a:path w="1758210" h="10298040">
                    <a:moveTo>
                      <a:pt x="0" y="0"/>
                    </a:moveTo>
                    <a:lnTo>
                      <a:pt x="1758210" y="0"/>
                    </a:lnTo>
                    <a:lnTo>
                      <a:pt x="1758210" y="10298040"/>
                    </a:lnTo>
                    <a:lnTo>
                      <a:pt x="0" y="10298040"/>
                    </a:lnTo>
                    <a:close/>
                  </a:path>
                </a:pathLst>
              </a:custGeom>
              <a:solidFill>
                <a:srgbClr val="94B6DA"/>
              </a:solidFill>
            </p:spPr>
          </p:sp>
          <p:sp>
            <p:nvSpPr>
              <p:cNvPr id="8" name="TextBox 8"/>
              <p:cNvSpPr txBox="1"/>
              <p:nvPr/>
            </p:nvSpPr>
            <p:spPr>
              <a:xfrm>
                <a:off x="0" y="-38100"/>
                <a:ext cx="1758210" cy="10336140"/>
              </a:xfrm>
              <a:prstGeom prst="rect">
                <a:avLst/>
              </a:prstGeom>
            </p:spPr>
            <p:txBody>
              <a:bodyPr lIns="27024" tIns="27024" rIns="27024" bIns="27024" rtlCol="0" anchor="ctr"/>
              <a:lstStyle/>
              <a:p>
                <a:pPr algn="ctr">
                  <a:lnSpc>
                    <a:spcPts val="2799"/>
                  </a:lnSpc>
                </a:pPr>
                <a:endParaRPr/>
              </a:p>
            </p:txBody>
          </p:sp>
        </p:grpSp>
      </p:grpSp>
      <p:grpSp>
        <p:nvGrpSpPr>
          <p:cNvPr id="9" name="Group 9"/>
          <p:cNvGrpSpPr/>
          <p:nvPr/>
        </p:nvGrpSpPr>
        <p:grpSpPr>
          <a:xfrm>
            <a:off x="731085" y="704460"/>
            <a:ext cx="16825830" cy="8968572"/>
            <a:chOff x="0" y="0"/>
            <a:chExt cx="22434440" cy="11958096"/>
          </a:xfrm>
        </p:grpSpPr>
        <p:grpSp>
          <p:nvGrpSpPr>
            <p:cNvPr id="10" name="Group 10"/>
            <p:cNvGrpSpPr/>
            <p:nvPr/>
          </p:nvGrpSpPr>
          <p:grpSpPr>
            <a:xfrm>
              <a:off x="26537" y="10323576"/>
              <a:ext cx="22386981" cy="1634520"/>
              <a:chOff x="0" y="0"/>
              <a:chExt cx="9809754" cy="716230"/>
            </a:xfrm>
          </p:grpSpPr>
          <p:sp>
            <p:nvSpPr>
              <p:cNvPr id="11" name="Freeform 11"/>
              <p:cNvSpPr/>
              <p:nvPr/>
            </p:nvSpPr>
            <p:spPr>
              <a:xfrm>
                <a:off x="0" y="0"/>
                <a:ext cx="9809754" cy="716230"/>
              </a:xfrm>
              <a:custGeom>
                <a:avLst/>
                <a:gdLst/>
                <a:ahLst/>
                <a:cxnLst/>
                <a:rect l="l" t="t" r="r" b="b"/>
                <a:pathLst>
                  <a:path w="9809754" h="716230">
                    <a:moveTo>
                      <a:pt x="0" y="0"/>
                    </a:moveTo>
                    <a:lnTo>
                      <a:pt x="9809754" y="0"/>
                    </a:lnTo>
                    <a:lnTo>
                      <a:pt x="9809754" y="716230"/>
                    </a:lnTo>
                    <a:lnTo>
                      <a:pt x="0" y="716230"/>
                    </a:lnTo>
                    <a:close/>
                  </a:path>
                </a:pathLst>
              </a:custGeom>
              <a:solidFill>
                <a:srgbClr val="20538B"/>
              </a:solidFill>
              <a:ln w="38100" cap="sq">
                <a:solidFill>
                  <a:srgbClr val="20538B"/>
                </a:solidFill>
                <a:prstDash val="solid"/>
                <a:miter/>
              </a:ln>
            </p:spPr>
          </p:sp>
          <p:sp>
            <p:nvSpPr>
              <p:cNvPr id="12" name="TextBox 12"/>
              <p:cNvSpPr txBox="1"/>
              <p:nvPr/>
            </p:nvSpPr>
            <p:spPr>
              <a:xfrm>
                <a:off x="0" y="-47625"/>
                <a:ext cx="9809754" cy="763855"/>
              </a:xfrm>
              <a:prstGeom prst="rect">
                <a:avLst/>
              </a:prstGeom>
            </p:spPr>
            <p:txBody>
              <a:bodyPr lIns="50800" tIns="50800" rIns="50800" bIns="50800" rtlCol="0" anchor="ctr"/>
              <a:lstStyle/>
              <a:p>
                <a:pPr algn="ctr">
                  <a:lnSpc>
                    <a:spcPts val="3163"/>
                  </a:lnSpc>
                </a:pPr>
                <a:endParaRPr/>
              </a:p>
            </p:txBody>
          </p:sp>
        </p:grpSp>
        <p:grpSp>
          <p:nvGrpSpPr>
            <p:cNvPr id="13" name="Group 13"/>
            <p:cNvGrpSpPr/>
            <p:nvPr/>
          </p:nvGrpSpPr>
          <p:grpSpPr>
            <a:xfrm>
              <a:off x="0" y="0"/>
              <a:ext cx="22434440" cy="11837441"/>
              <a:chOff x="0" y="0"/>
              <a:chExt cx="9818921" cy="5180914"/>
            </a:xfrm>
          </p:grpSpPr>
          <p:sp>
            <p:nvSpPr>
              <p:cNvPr id="14" name="Freeform 14"/>
              <p:cNvSpPr/>
              <p:nvPr/>
            </p:nvSpPr>
            <p:spPr>
              <a:xfrm>
                <a:off x="0" y="0"/>
                <a:ext cx="9818922" cy="5180914"/>
              </a:xfrm>
              <a:custGeom>
                <a:avLst/>
                <a:gdLst/>
                <a:ahLst/>
                <a:cxnLst/>
                <a:rect l="l" t="t" r="r" b="b"/>
                <a:pathLst>
                  <a:path w="9818922" h="5180914">
                    <a:moveTo>
                      <a:pt x="0" y="0"/>
                    </a:moveTo>
                    <a:lnTo>
                      <a:pt x="9818922" y="0"/>
                    </a:lnTo>
                    <a:lnTo>
                      <a:pt x="9818922" y="5180914"/>
                    </a:lnTo>
                    <a:lnTo>
                      <a:pt x="0" y="5180914"/>
                    </a:lnTo>
                    <a:close/>
                  </a:path>
                </a:pathLst>
              </a:custGeom>
              <a:solidFill>
                <a:srgbClr val="FFFFFF"/>
              </a:solidFill>
              <a:ln w="38100" cap="sq">
                <a:solidFill>
                  <a:srgbClr val="20538B"/>
                </a:solidFill>
                <a:prstDash val="solid"/>
                <a:miter/>
              </a:ln>
            </p:spPr>
          </p:sp>
          <p:sp>
            <p:nvSpPr>
              <p:cNvPr id="15" name="TextBox 15"/>
              <p:cNvSpPr txBox="1"/>
              <p:nvPr/>
            </p:nvSpPr>
            <p:spPr>
              <a:xfrm>
                <a:off x="0" y="-47625"/>
                <a:ext cx="9818921" cy="5228539"/>
              </a:xfrm>
              <a:prstGeom prst="rect">
                <a:avLst/>
              </a:prstGeom>
            </p:spPr>
            <p:txBody>
              <a:bodyPr lIns="50800" tIns="50800" rIns="50800" bIns="50800" rtlCol="0" anchor="ctr"/>
              <a:lstStyle/>
              <a:p>
                <a:pPr algn="ctr">
                  <a:lnSpc>
                    <a:spcPts val="3163"/>
                  </a:lnSpc>
                </a:pPr>
                <a:endParaRPr/>
              </a:p>
            </p:txBody>
          </p:sp>
        </p:grpSp>
      </p:grpSp>
      <p:grpSp>
        <p:nvGrpSpPr>
          <p:cNvPr id="16" name="Group 16"/>
          <p:cNvGrpSpPr/>
          <p:nvPr/>
        </p:nvGrpSpPr>
        <p:grpSpPr>
          <a:xfrm>
            <a:off x="763743" y="737117"/>
            <a:ext cx="16760151" cy="1486758"/>
            <a:chOff x="0" y="0"/>
            <a:chExt cx="8581180" cy="761219"/>
          </a:xfrm>
        </p:grpSpPr>
        <p:sp>
          <p:nvSpPr>
            <p:cNvPr id="17" name="Freeform 17"/>
            <p:cNvSpPr/>
            <p:nvPr/>
          </p:nvSpPr>
          <p:spPr>
            <a:xfrm>
              <a:off x="0" y="0"/>
              <a:ext cx="8581180" cy="761219"/>
            </a:xfrm>
            <a:custGeom>
              <a:avLst/>
              <a:gdLst/>
              <a:ahLst/>
              <a:cxnLst/>
              <a:rect l="l" t="t" r="r" b="b"/>
              <a:pathLst>
                <a:path w="8581180" h="761219">
                  <a:moveTo>
                    <a:pt x="0" y="0"/>
                  </a:moveTo>
                  <a:lnTo>
                    <a:pt x="8581180" y="0"/>
                  </a:lnTo>
                  <a:lnTo>
                    <a:pt x="8581180" y="761219"/>
                  </a:lnTo>
                  <a:lnTo>
                    <a:pt x="0" y="761219"/>
                  </a:lnTo>
                  <a:close/>
                </a:path>
              </a:pathLst>
            </a:custGeom>
            <a:solidFill>
              <a:srgbClr val="EEF6FF"/>
            </a:solidFill>
            <a:ln w="9525" cap="sq">
              <a:solidFill>
                <a:srgbClr val="20538B"/>
              </a:solidFill>
              <a:prstDash val="solid"/>
              <a:miter/>
            </a:ln>
          </p:spPr>
        </p:sp>
        <p:sp>
          <p:nvSpPr>
            <p:cNvPr id="18" name="TextBox 18"/>
            <p:cNvSpPr txBox="1"/>
            <p:nvPr/>
          </p:nvSpPr>
          <p:spPr>
            <a:xfrm>
              <a:off x="0" y="-38100"/>
              <a:ext cx="8581180" cy="799319"/>
            </a:xfrm>
            <a:prstGeom prst="rect">
              <a:avLst/>
            </a:prstGeom>
          </p:spPr>
          <p:txBody>
            <a:bodyPr lIns="39198" tIns="39198" rIns="39198" bIns="39198" rtlCol="0" anchor="ctr"/>
            <a:lstStyle/>
            <a:p>
              <a:pPr algn="ctr">
                <a:lnSpc>
                  <a:spcPts val="2799"/>
                </a:lnSpc>
              </a:pPr>
              <a:endParaRPr/>
            </a:p>
          </p:txBody>
        </p:sp>
      </p:grpSp>
      <p:sp>
        <p:nvSpPr>
          <p:cNvPr id="19" name="Freeform 19"/>
          <p:cNvSpPr/>
          <p:nvPr/>
        </p:nvSpPr>
        <p:spPr>
          <a:xfrm>
            <a:off x="15531691" y="160918"/>
            <a:ext cx="996214" cy="1021758"/>
          </a:xfrm>
          <a:custGeom>
            <a:avLst/>
            <a:gdLst/>
            <a:ahLst/>
            <a:cxnLst/>
            <a:rect l="l" t="t" r="r" b="b"/>
            <a:pathLst>
              <a:path w="996214" h="1021758">
                <a:moveTo>
                  <a:pt x="0" y="0"/>
                </a:moveTo>
                <a:lnTo>
                  <a:pt x="996214" y="0"/>
                </a:lnTo>
                <a:lnTo>
                  <a:pt x="996214" y="1021758"/>
                </a:lnTo>
                <a:lnTo>
                  <a:pt x="0" y="1021758"/>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20" name="Group 20"/>
          <p:cNvGrpSpPr/>
          <p:nvPr/>
        </p:nvGrpSpPr>
        <p:grpSpPr>
          <a:xfrm>
            <a:off x="2089657" y="2795323"/>
            <a:ext cx="6626340" cy="6016877"/>
            <a:chOff x="0" y="0"/>
            <a:chExt cx="895130" cy="812800"/>
          </a:xfrm>
        </p:grpSpPr>
        <p:sp>
          <p:nvSpPr>
            <p:cNvPr id="21" name="Freeform 21"/>
            <p:cNvSpPr/>
            <p:nvPr/>
          </p:nvSpPr>
          <p:spPr>
            <a:xfrm>
              <a:off x="0" y="0"/>
              <a:ext cx="895130" cy="812800"/>
            </a:xfrm>
            <a:custGeom>
              <a:avLst/>
              <a:gdLst/>
              <a:ahLst/>
              <a:cxnLst/>
              <a:rect l="l" t="t" r="r" b="b"/>
              <a:pathLst>
                <a:path w="895130" h="812800">
                  <a:moveTo>
                    <a:pt x="0" y="0"/>
                  </a:moveTo>
                  <a:lnTo>
                    <a:pt x="895130" y="0"/>
                  </a:lnTo>
                  <a:lnTo>
                    <a:pt x="895130" y="812800"/>
                  </a:lnTo>
                  <a:lnTo>
                    <a:pt x="0" y="812800"/>
                  </a:lnTo>
                  <a:close/>
                </a:path>
              </a:pathLst>
            </a:custGeom>
            <a:blipFill>
              <a:blip r:embed="rId5"/>
              <a:stretch>
                <a:fillRect l="-10811" r="-10811"/>
              </a:stretch>
            </a:blipFill>
            <a:ln w="19050" cap="sq">
              <a:solidFill>
                <a:srgbClr val="20538B"/>
              </a:solidFill>
              <a:prstDash val="solid"/>
              <a:miter/>
            </a:ln>
          </p:spPr>
        </p:sp>
      </p:grpSp>
      <p:sp>
        <p:nvSpPr>
          <p:cNvPr id="22" name="Freeform 22"/>
          <p:cNvSpPr/>
          <p:nvPr/>
        </p:nvSpPr>
        <p:spPr>
          <a:xfrm>
            <a:off x="9363698" y="4712843"/>
            <a:ext cx="272321" cy="272321"/>
          </a:xfrm>
          <a:custGeom>
            <a:avLst/>
            <a:gdLst/>
            <a:ahLst/>
            <a:cxnLst/>
            <a:rect l="l" t="t" r="r" b="b"/>
            <a:pathLst>
              <a:path w="272321" h="272321">
                <a:moveTo>
                  <a:pt x="0" y="0"/>
                </a:moveTo>
                <a:lnTo>
                  <a:pt x="272321" y="0"/>
                </a:lnTo>
                <a:lnTo>
                  <a:pt x="272321" y="272321"/>
                </a:lnTo>
                <a:lnTo>
                  <a:pt x="0" y="272321"/>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23" name="Freeform 23"/>
          <p:cNvSpPr/>
          <p:nvPr/>
        </p:nvSpPr>
        <p:spPr>
          <a:xfrm>
            <a:off x="9757649" y="5406105"/>
            <a:ext cx="311065" cy="230188"/>
          </a:xfrm>
          <a:custGeom>
            <a:avLst/>
            <a:gdLst/>
            <a:ahLst/>
            <a:cxnLst/>
            <a:rect l="l" t="t" r="r" b="b"/>
            <a:pathLst>
              <a:path w="311065" h="230188">
                <a:moveTo>
                  <a:pt x="0" y="0"/>
                </a:moveTo>
                <a:lnTo>
                  <a:pt x="311065" y="0"/>
                </a:lnTo>
                <a:lnTo>
                  <a:pt x="311065" y="230188"/>
                </a:lnTo>
                <a:lnTo>
                  <a:pt x="0" y="230188"/>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24" name="Freeform 24"/>
          <p:cNvSpPr/>
          <p:nvPr/>
        </p:nvSpPr>
        <p:spPr>
          <a:xfrm>
            <a:off x="9757649" y="5960143"/>
            <a:ext cx="311065" cy="230188"/>
          </a:xfrm>
          <a:custGeom>
            <a:avLst/>
            <a:gdLst/>
            <a:ahLst/>
            <a:cxnLst/>
            <a:rect l="l" t="t" r="r" b="b"/>
            <a:pathLst>
              <a:path w="311065" h="230188">
                <a:moveTo>
                  <a:pt x="0" y="0"/>
                </a:moveTo>
                <a:lnTo>
                  <a:pt x="311065" y="0"/>
                </a:lnTo>
                <a:lnTo>
                  <a:pt x="311065" y="230187"/>
                </a:lnTo>
                <a:lnTo>
                  <a:pt x="0" y="230187"/>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25" name="TextBox 25"/>
          <p:cNvSpPr txBox="1"/>
          <p:nvPr/>
        </p:nvSpPr>
        <p:spPr>
          <a:xfrm>
            <a:off x="2394993" y="893156"/>
            <a:ext cx="6107827" cy="1114425"/>
          </a:xfrm>
          <a:prstGeom prst="rect">
            <a:avLst/>
          </a:prstGeom>
        </p:spPr>
        <p:txBody>
          <a:bodyPr lIns="0" tIns="0" rIns="0" bIns="0" rtlCol="0" anchor="t">
            <a:spAutoFit/>
          </a:bodyPr>
          <a:lstStyle/>
          <a:p>
            <a:pPr algn="l">
              <a:lnSpc>
                <a:spcPts val="9600"/>
              </a:lnSpc>
            </a:pPr>
            <a:r>
              <a:rPr lang="en-US" sz="5000" b="1">
                <a:solidFill>
                  <a:srgbClr val="20538B"/>
                </a:solidFill>
                <a:latin typeface="프리텐다드 Bold"/>
                <a:ea typeface="프리텐다드 Bold"/>
                <a:cs typeface="프리텐다드 Bold"/>
                <a:sym typeface="프리텐다드 Bold"/>
              </a:rPr>
              <a:t>DLL이란?</a:t>
            </a:r>
          </a:p>
        </p:txBody>
      </p:sp>
      <p:sp>
        <p:nvSpPr>
          <p:cNvPr id="26" name="TextBox 26"/>
          <p:cNvSpPr txBox="1"/>
          <p:nvPr/>
        </p:nvSpPr>
        <p:spPr>
          <a:xfrm>
            <a:off x="1437501" y="920715"/>
            <a:ext cx="834743" cy="1077619"/>
          </a:xfrm>
          <a:prstGeom prst="rect">
            <a:avLst/>
          </a:prstGeom>
        </p:spPr>
        <p:txBody>
          <a:bodyPr lIns="0" tIns="0" rIns="0" bIns="0" rtlCol="0" anchor="t">
            <a:spAutoFit/>
          </a:bodyPr>
          <a:lstStyle/>
          <a:p>
            <a:pPr algn="l">
              <a:lnSpc>
                <a:spcPts val="9372"/>
              </a:lnSpc>
            </a:pPr>
            <a:r>
              <a:rPr lang="en-US" sz="4881" b="1">
                <a:solidFill>
                  <a:srgbClr val="CBDDEF"/>
                </a:solidFill>
                <a:latin typeface="프리텐다드 Bold"/>
                <a:ea typeface="프리텐다드 Bold"/>
                <a:cs typeface="프리텐다드 Bold"/>
                <a:sym typeface="프리텐다드 Bold"/>
              </a:rPr>
              <a:t>01</a:t>
            </a:r>
          </a:p>
        </p:txBody>
      </p:sp>
      <p:sp>
        <p:nvSpPr>
          <p:cNvPr id="27" name="TextBox 27"/>
          <p:cNvSpPr txBox="1"/>
          <p:nvPr/>
        </p:nvSpPr>
        <p:spPr>
          <a:xfrm>
            <a:off x="9757649" y="4553728"/>
            <a:ext cx="6140301" cy="490855"/>
          </a:xfrm>
          <a:prstGeom prst="rect">
            <a:avLst/>
          </a:prstGeom>
        </p:spPr>
        <p:txBody>
          <a:bodyPr lIns="0" tIns="0" rIns="0" bIns="0" rtlCol="0" anchor="t">
            <a:spAutoFit/>
          </a:bodyPr>
          <a:lstStyle/>
          <a:p>
            <a:pPr algn="l">
              <a:lnSpc>
                <a:spcPts val="3920"/>
              </a:lnSpc>
            </a:pPr>
            <a:r>
              <a:rPr lang="en-US" sz="2800" b="1">
                <a:solidFill>
                  <a:srgbClr val="20538B"/>
                </a:solidFill>
                <a:latin typeface="프리텐다드 Bold"/>
                <a:ea typeface="프리텐다드 Bold"/>
                <a:cs typeface="프리텐다드 Bold"/>
                <a:sym typeface="프리텐다드 Bold"/>
              </a:rPr>
              <a:t>핵심 포인트</a:t>
            </a:r>
          </a:p>
        </p:txBody>
      </p:sp>
      <p:sp>
        <p:nvSpPr>
          <p:cNvPr id="28" name="TextBox 28"/>
          <p:cNvSpPr txBox="1"/>
          <p:nvPr/>
        </p:nvSpPr>
        <p:spPr>
          <a:xfrm>
            <a:off x="10280413" y="5153803"/>
            <a:ext cx="4957155" cy="1626871"/>
          </a:xfrm>
          <a:prstGeom prst="rect">
            <a:avLst/>
          </a:prstGeom>
        </p:spPr>
        <p:txBody>
          <a:bodyPr lIns="0" tIns="0" rIns="0" bIns="0" rtlCol="0" anchor="t">
            <a:spAutoFit/>
          </a:bodyPr>
          <a:lstStyle/>
          <a:p>
            <a:pPr algn="l">
              <a:lnSpc>
                <a:spcPts val="4439"/>
              </a:lnSpc>
            </a:pPr>
            <a:r>
              <a:rPr lang="en-US" sz="1999">
                <a:solidFill>
                  <a:srgbClr val="20538B"/>
                </a:solidFill>
                <a:latin typeface="프리텐다드"/>
                <a:ea typeface="프리텐다드"/>
                <a:cs typeface="프리텐다드"/>
                <a:sym typeface="프리텐다드"/>
              </a:rPr>
              <a:t>Dynamic-Link Library</a:t>
            </a:r>
          </a:p>
          <a:p>
            <a:pPr algn="l">
              <a:lnSpc>
                <a:spcPts val="4439"/>
              </a:lnSpc>
            </a:pPr>
            <a:r>
              <a:rPr lang="en-US" sz="1999">
                <a:solidFill>
                  <a:srgbClr val="20538B"/>
                </a:solidFill>
                <a:latin typeface="프리텐다드"/>
                <a:ea typeface="프리텐다드"/>
                <a:cs typeface="프리텐다드"/>
                <a:sym typeface="프리텐다드"/>
              </a:rPr>
              <a:t>공통 기능을 제공하는 라이브러리</a:t>
            </a:r>
          </a:p>
          <a:p>
            <a:pPr algn="l">
              <a:lnSpc>
                <a:spcPts val="4439"/>
              </a:lnSpc>
            </a:pPr>
            <a:endParaRPr lang="en-US" sz="1999">
              <a:solidFill>
                <a:srgbClr val="20538B"/>
              </a:solidFill>
              <a:latin typeface="프리텐다드"/>
              <a:ea typeface="프리텐다드"/>
              <a:cs typeface="프리텐다드"/>
              <a:sym typeface="프리텐다드"/>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06770" y="3274348"/>
            <a:ext cx="20540828" cy="7012652"/>
            <a:chOff x="0" y="0"/>
            <a:chExt cx="27387770" cy="9350202"/>
          </a:xfrm>
        </p:grpSpPr>
        <p:grpSp>
          <p:nvGrpSpPr>
            <p:cNvPr id="3" name="Group 3"/>
            <p:cNvGrpSpPr/>
            <p:nvPr/>
          </p:nvGrpSpPr>
          <p:grpSpPr>
            <a:xfrm rot="-5400000">
              <a:off x="11157038" y="-11157038"/>
              <a:ext cx="4770675" cy="27084750"/>
              <a:chOff x="0" y="0"/>
              <a:chExt cx="1831597" cy="10398600"/>
            </a:xfrm>
          </p:grpSpPr>
          <p:sp>
            <p:nvSpPr>
              <p:cNvPr id="4" name="Freeform 4"/>
              <p:cNvSpPr/>
              <p:nvPr/>
            </p:nvSpPr>
            <p:spPr>
              <a:xfrm>
                <a:off x="0" y="0"/>
                <a:ext cx="1831597" cy="10398600"/>
              </a:xfrm>
              <a:custGeom>
                <a:avLst/>
                <a:gdLst/>
                <a:ahLst/>
                <a:cxnLst/>
                <a:rect l="l" t="t" r="r" b="b"/>
                <a:pathLst>
                  <a:path w="1831597" h="10398600">
                    <a:moveTo>
                      <a:pt x="0" y="0"/>
                    </a:moveTo>
                    <a:lnTo>
                      <a:pt x="1831597" y="0"/>
                    </a:lnTo>
                    <a:lnTo>
                      <a:pt x="1831597" y="10398600"/>
                    </a:lnTo>
                    <a:lnTo>
                      <a:pt x="0" y="10398600"/>
                    </a:lnTo>
                    <a:close/>
                  </a:path>
                </a:pathLst>
              </a:custGeom>
              <a:solidFill>
                <a:srgbClr val="CBDDEF"/>
              </a:solidFill>
            </p:spPr>
          </p:sp>
          <p:sp>
            <p:nvSpPr>
              <p:cNvPr id="5" name="TextBox 5"/>
              <p:cNvSpPr txBox="1"/>
              <p:nvPr/>
            </p:nvSpPr>
            <p:spPr>
              <a:xfrm>
                <a:off x="0" y="-38100"/>
                <a:ext cx="1831597" cy="10436700"/>
              </a:xfrm>
              <a:prstGeom prst="rect">
                <a:avLst/>
              </a:prstGeom>
            </p:spPr>
            <p:txBody>
              <a:bodyPr lIns="27024" tIns="27024" rIns="27024" bIns="27024" rtlCol="0" anchor="ctr"/>
              <a:lstStyle/>
              <a:p>
                <a:pPr algn="ctr">
                  <a:lnSpc>
                    <a:spcPts val="2799"/>
                  </a:lnSpc>
                </a:pPr>
                <a:endParaRPr/>
              </a:p>
            </p:txBody>
          </p:sp>
        </p:grpSp>
        <p:grpSp>
          <p:nvGrpSpPr>
            <p:cNvPr id="6" name="Group 6"/>
            <p:cNvGrpSpPr/>
            <p:nvPr/>
          </p:nvGrpSpPr>
          <p:grpSpPr>
            <a:xfrm rot="-5400000">
              <a:off x="11686593" y="-6350975"/>
              <a:ext cx="4579528" cy="26822826"/>
              <a:chOff x="0" y="0"/>
              <a:chExt cx="1758210" cy="10298040"/>
            </a:xfrm>
          </p:grpSpPr>
          <p:sp>
            <p:nvSpPr>
              <p:cNvPr id="7" name="Freeform 7"/>
              <p:cNvSpPr/>
              <p:nvPr/>
            </p:nvSpPr>
            <p:spPr>
              <a:xfrm>
                <a:off x="0" y="0"/>
                <a:ext cx="1758210" cy="10298040"/>
              </a:xfrm>
              <a:custGeom>
                <a:avLst/>
                <a:gdLst/>
                <a:ahLst/>
                <a:cxnLst/>
                <a:rect l="l" t="t" r="r" b="b"/>
                <a:pathLst>
                  <a:path w="1758210" h="10298040">
                    <a:moveTo>
                      <a:pt x="0" y="0"/>
                    </a:moveTo>
                    <a:lnTo>
                      <a:pt x="1758210" y="0"/>
                    </a:lnTo>
                    <a:lnTo>
                      <a:pt x="1758210" y="10298040"/>
                    </a:lnTo>
                    <a:lnTo>
                      <a:pt x="0" y="10298040"/>
                    </a:lnTo>
                    <a:close/>
                  </a:path>
                </a:pathLst>
              </a:custGeom>
              <a:solidFill>
                <a:srgbClr val="94B6DA"/>
              </a:solidFill>
            </p:spPr>
          </p:sp>
          <p:sp>
            <p:nvSpPr>
              <p:cNvPr id="8" name="TextBox 8"/>
              <p:cNvSpPr txBox="1"/>
              <p:nvPr/>
            </p:nvSpPr>
            <p:spPr>
              <a:xfrm>
                <a:off x="0" y="-38100"/>
                <a:ext cx="1758210" cy="10336140"/>
              </a:xfrm>
              <a:prstGeom prst="rect">
                <a:avLst/>
              </a:prstGeom>
            </p:spPr>
            <p:txBody>
              <a:bodyPr lIns="27024" tIns="27024" rIns="27024" bIns="27024" rtlCol="0" anchor="ctr"/>
              <a:lstStyle/>
              <a:p>
                <a:pPr algn="ctr">
                  <a:lnSpc>
                    <a:spcPts val="2799"/>
                  </a:lnSpc>
                </a:pPr>
                <a:endParaRPr/>
              </a:p>
            </p:txBody>
          </p:sp>
        </p:grpSp>
      </p:grpSp>
      <p:grpSp>
        <p:nvGrpSpPr>
          <p:cNvPr id="9" name="Group 9"/>
          <p:cNvGrpSpPr/>
          <p:nvPr/>
        </p:nvGrpSpPr>
        <p:grpSpPr>
          <a:xfrm>
            <a:off x="731085" y="704460"/>
            <a:ext cx="16825830" cy="8968572"/>
            <a:chOff x="0" y="0"/>
            <a:chExt cx="22434440" cy="11958096"/>
          </a:xfrm>
        </p:grpSpPr>
        <p:grpSp>
          <p:nvGrpSpPr>
            <p:cNvPr id="10" name="Group 10"/>
            <p:cNvGrpSpPr/>
            <p:nvPr/>
          </p:nvGrpSpPr>
          <p:grpSpPr>
            <a:xfrm>
              <a:off x="26537" y="10323576"/>
              <a:ext cx="22386981" cy="1634520"/>
              <a:chOff x="0" y="0"/>
              <a:chExt cx="9809754" cy="716230"/>
            </a:xfrm>
          </p:grpSpPr>
          <p:sp>
            <p:nvSpPr>
              <p:cNvPr id="11" name="Freeform 11"/>
              <p:cNvSpPr/>
              <p:nvPr/>
            </p:nvSpPr>
            <p:spPr>
              <a:xfrm>
                <a:off x="0" y="0"/>
                <a:ext cx="9809754" cy="716230"/>
              </a:xfrm>
              <a:custGeom>
                <a:avLst/>
                <a:gdLst/>
                <a:ahLst/>
                <a:cxnLst/>
                <a:rect l="l" t="t" r="r" b="b"/>
                <a:pathLst>
                  <a:path w="9809754" h="716230">
                    <a:moveTo>
                      <a:pt x="0" y="0"/>
                    </a:moveTo>
                    <a:lnTo>
                      <a:pt x="9809754" y="0"/>
                    </a:lnTo>
                    <a:lnTo>
                      <a:pt x="9809754" y="716230"/>
                    </a:lnTo>
                    <a:lnTo>
                      <a:pt x="0" y="716230"/>
                    </a:lnTo>
                    <a:close/>
                  </a:path>
                </a:pathLst>
              </a:custGeom>
              <a:solidFill>
                <a:srgbClr val="20538B"/>
              </a:solidFill>
              <a:ln w="38100" cap="sq">
                <a:solidFill>
                  <a:srgbClr val="20538B"/>
                </a:solidFill>
                <a:prstDash val="solid"/>
                <a:miter/>
              </a:ln>
            </p:spPr>
          </p:sp>
          <p:sp>
            <p:nvSpPr>
              <p:cNvPr id="12" name="TextBox 12"/>
              <p:cNvSpPr txBox="1"/>
              <p:nvPr/>
            </p:nvSpPr>
            <p:spPr>
              <a:xfrm>
                <a:off x="0" y="-47625"/>
                <a:ext cx="9809754" cy="763855"/>
              </a:xfrm>
              <a:prstGeom prst="rect">
                <a:avLst/>
              </a:prstGeom>
            </p:spPr>
            <p:txBody>
              <a:bodyPr lIns="50800" tIns="50800" rIns="50800" bIns="50800" rtlCol="0" anchor="ctr"/>
              <a:lstStyle/>
              <a:p>
                <a:pPr algn="ctr">
                  <a:lnSpc>
                    <a:spcPts val="3163"/>
                  </a:lnSpc>
                </a:pPr>
                <a:endParaRPr/>
              </a:p>
            </p:txBody>
          </p:sp>
        </p:grpSp>
        <p:grpSp>
          <p:nvGrpSpPr>
            <p:cNvPr id="13" name="Group 13"/>
            <p:cNvGrpSpPr/>
            <p:nvPr/>
          </p:nvGrpSpPr>
          <p:grpSpPr>
            <a:xfrm>
              <a:off x="0" y="0"/>
              <a:ext cx="22434440" cy="11837441"/>
              <a:chOff x="0" y="0"/>
              <a:chExt cx="9818921" cy="5180914"/>
            </a:xfrm>
          </p:grpSpPr>
          <p:sp>
            <p:nvSpPr>
              <p:cNvPr id="14" name="Freeform 14"/>
              <p:cNvSpPr/>
              <p:nvPr/>
            </p:nvSpPr>
            <p:spPr>
              <a:xfrm>
                <a:off x="0" y="0"/>
                <a:ext cx="9818922" cy="5180914"/>
              </a:xfrm>
              <a:custGeom>
                <a:avLst/>
                <a:gdLst/>
                <a:ahLst/>
                <a:cxnLst/>
                <a:rect l="l" t="t" r="r" b="b"/>
                <a:pathLst>
                  <a:path w="9818922" h="5180914">
                    <a:moveTo>
                      <a:pt x="0" y="0"/>
                    </a:moveTo>
                    <a:lnTo>
                      <a:pt x="9818922" y="0"/>
                    </a:lnTo>
                    <a:lnTo>
                      <a:pt x="9818922" y="5180914"/>
                    </a:lnTo>
                    <a:lnTo>
                      <a:pt x="0" y="5180914"/>
                    </a:lnTo>
                    <a:close/>
                  </a:path>
                </a:pathLst>
              </a:custGeom>
              <a:solidFill>
                <a:srgbClr val="FFFFFF"/>
              </a:solidFill>
              <a:ln w="38100" cap="sq">
                <a:solidFill>
                  <a:srgbClr val="20538B"/>
                </a:solidFill>
                <a:prstDash val="solid"/>
                <a:miter/>
              </a:ln>
            </p:spPr>
          </p:sp>
          <p:sp>
            <p:nvSpPr>
              <p:cNvPr id="15" name="TextBox 15"/>
              <p:cNvSpPr txBox="1"/>
              <p:nvPr/>
            </p:nvSpPr>
            <p:spPr>
              <a:xfrm>
                <a:off x="0" y="-47625"/>
                <a:ext cx="9818921" cy="5228539"/>
              </a:xfrm>
              <a:prstGeom prst="rect">
                <a:avLst/>
              </a:prstGeom>
            </p:spPr>
            <p:txBody>
              <a:bodyPr lIns="50800" tIns="50800" rIns="50800" bIns="50800" rtlCol="0" anchor="ctr"/>
              <a:lstStyle/>
              <a:p>
                <a:pPr algn="ctr">
                  <a:lnSpc>
                    <a:spcPts val="3163"/>
                  </a:lnSpc>
                </a:pPr>
                <a:endParaRPr/>
              </a:p>
            </p:txBody>
          </p:sp>
        </p:grpSp>
      </p:grpSp>
      <p:grpSp>
        <p:nvGrpSpPr>
          <p:cNvPr id="16" name="Group 16"/>
          <p:cNvGrpSpPr/>
          <p:nvPr/>
        </p:nvGrpSpPr>
        <p:grpSpPr>
          <a:xfrm>
            <a:off x="763743" y="737117"/>
            <a:ext cx="16760151" cy="1486758"/>
            <a:chOff x="0" y="0"/>
            <a:chExt cx="8581180" cy="761219"/>
          </a:xfrm>
        </p:grpSpPr>
        <p:sp>
          <p:nvSpPr>
            <p:cNvPr id="17" name="Freeform 17"/>
            <p:cNvSpPr/>
            <p:nvPr/>
          </p:nvSpPr>
          <p:spPr>
            <a:xfrm>
              <a:off x="0" y="0"/>
              <a:ext cx="8581180" cy="761219"/>
            </a:xfrm>
            <a:custGeom>
              <a:avLst/>
              <a:gdLst/>
              <a:ahLst/>
              <a:cxnLst/>
              <a:rect l="l" t="t" r="r" b="b"/>
              <a:pathLst>
                <a:path w="8581180" h="761219">
                  <a:moveTo>
                    <a:pt x="0" y="0"/>
                  </a:moveTo>
                  <a:lnTo>
                    <a:pt x="8581180" y="0"/>
                  </a:lnTo>
                  <a:lnTo>
                    <a:pt x="8581180" y="761219"/>
                  </a:lnTo>
                  <a:lnTo>
                    <a:pt x="0" y="761219"/>
                  </a:lnTo>
                  <a:close/>
                </a:path>
              </a:pathLst>
            </a:custGeom>
            <a:solidFill>
              <a:srgbClr val="EEF6FF"/>
            </a:solidFill>
            <a:ln w="9525" cap="sq">
              <a:solidFill>
                <a:srgbClr val="20538B"/>
              </a:solidFill>
              <a:prstDash val="solid"/>
              <a:miter/>
            </a:ln>
          </p:spPr>
        </p:sp>
        <p:sp>
          <p:nvSpPr>
            <p:cNvPr id="18" name="TextBox 18"/>
            <p:cNvSpPr txBox="1"/>
            <p:nvPr/>
          </p:nvSpPr>
          <p:spPr>
            <a:xfrm>
              <a:off x="0" y="-38100"/>
              <a:ext cx="8581180" cy="799319"/>
            </a:xfrm>
            <a:prstGeom prst="rect">
              <a:avLst/>
            </a:prstGeom>
          </p:spPr>
          <p:txBody>
            <a:bodyPr lIns="39198" tIns="39198" rIns="39198" bIns="39198" rtlCol="0" anchor="ctr"/>
            <a:lstStyle/>
            <a:p>
              <a:pPr algn="ctr">
                <a:lnSpc>
                  <a:spcPts val="2799"/>
                </a:lnSpc>
              </a:pPr>
              <a:endParaRPr/>
            </a:p>
          </p:txBody>
        </p:sp>
      </p:grpSp>
      <p:sp>
        <p:nvSpPr>
          <p:cNvPr id="19" name="Freeform 19"/>
          <p:cNvSpPr/>
          <p:nvPr/>
        </p:nvSpPr>
        <p:spPr>
          <a:xfrm>
            <a:off x="15531691" y="160918"/>
            <a:ext cx="996214" cy="1021758"/>
          </a:xfrm>
          <a:custGeom>
            <a:avLst/>
            <a:gdLst/>
            <a:ahLst/>
            <a:cxnLst/>
            <a:rect l="l" t="t" r="r" b="b"/>
            <a:pathLst>
              <a:path w="996214" h="1021758">
                <a:moveTo>
                  <a:pt x="0" y="0"/>
                </a:moveTo>
                <a:lnTo>
                  <a:pt x="996214" y="0"/>
                </a:lnTo>
                <a:lnTo>
                  <a:pt x="996214" y="1021758"/>
                </a:lnTo>
                <a:lnTo>
                  <a:pt x="0" y="1021758"/>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20" name="Freeform 20"/>
          <p:cNvSpPr/>
          <p:nvPr/>
        </p:nvSpPr>
        <p:spPr>
          <a:xfrm>
            <a:off x="2967744" y="2671305"/>
            <a:ext cx="12352512" cy="6465445"/>
          </a:xfrm>
          <a:custGeom>
            <a:avLst/>
            <a:gdLst/>
            <a:ahLst/>
            <a:cxnLst/>
            <a:rect l="l" t="t" r="r" b="b"/>
            <a:pathLst>
              <a:path w="12352512" h="6465445">
                <a:moveTo>
                  <a:pt x="0" y="0"/>
                </a:moveTo>
                <a:lnTo>
                  <a:pt x="12352512" y="0"/>
                </a:lnTo>
                <a:lnTo>
                  <a:pt x="12352512" y="6465445"/>
                </a:lnTo>
                <a:lnTo>
                  <a:pt x="0" y="6465445"/>
                </a:lnTo>
                <a:lnTo>
                  <a:pt x="0" y="0"/>
                </a:lnTo>
                <a:close/>
              </a:path>
            </a:pathLst>
          </a:custGeom>
          <a:blipFill>
            <a:blip r:embed="rId5"/>
            <a:stretch>
              <a:fillRect/>
            </a:stretch>
          </a:blipFill>
        </p:spPr>
      </p:sp>
      <p:sp>
        <p:nvSpPr>
          <p:cNvPr id="21" name="TextBox 21"/>
          <p:cNvSpPr txBox="1"/>
          <p:nvPr/>
        </p:nvSpPr>
        <p:spPr>
          <a:xfrm>
            <a:off x="2381354" y="893156"/>
            <a:ext cx="6107827" cy="1114425"/>
          </a:xfrm>
          <a:prstGeom prst="rect">
            <a:avLst/>
          </a:prstGeom>
        </p:spPr>
        <p:txBody>
          <a:bodyPr lIns="0" tIns="0" rIns="0" bIns="0" rtlCol="0" anchor="t">
            <a:spAutoFit/>
          </a:bodyPr>
          <a:lstStyle/>
          <a:p>
            <a:pPr algn="l">
              <a:lnSpc>
                <a:spcPts val="9600"/>
              </a:lnSpc>
            </a:pPr>
            <a:r>
              <a:rPr lang="en-US" sz="5000" b="1">
                <a:solidFill>
                  <a:srgbClr val="20538B"/>
                </a:solidFill>
                <a:latin typeface="프리텐다드 Bold"/>
                <a:ea typeface="프리텐다드 Bold"/>
                <a:cs typeface="프리텐다드 Bold"/>
                <a:sym typeface="프리텐다드 Bold"/>
              </a:rPr>
              <a:t>DLL을 사용하는 이유</a:t>
            </a:r>
          </a:p>
        </p:txBody>
      </p:sp>
      <p:sp>
        <p:nvSpPr>
          <p:cNvPr id="22" name="TextBox 22"/>
          <p:cNvSpPr txBox="1"/>
          <p:nvPr/>
        </p:nvSpPr>
        <p:spPr>
          <a:xfrm>
            <a:off x="1437501" y="920715"/>
            <a:ext cx="834743" cy="1077619"/>
          </a:xfrm>
          <a:prstGeom prst="rect">
            <a:avLst/>
          </a:prstGeom>
        </p:spPr>
        <p:txBody>
          <a:bodyPr lIns="0" tIns="0" rIns="0" bIns="0" rtlCol="0" anchor="t">
            <a:spAutoFit/>
          </a:bodyPr>
          <a:lstStyle/>
          <a:p>
            <a:pPr algn="l">
              <a:lnSpc>
                <a:spcPts val="9372"/>
              </a:lnSpc>
            </a:pPr>
            <a:r>
              <a:rPr lang="en-US" sz="4881" b="1">
                <a:solidFill>
                  <a:srgbClr val="CBDDEF"/>
                </a:solidFill>
                <a:latin typeface="프리텐다드 Bold"/>
                <a:ea typeface="프리텐다드 Bold"/>
                <a:cs typeface="프리텐다드 Bold"/>
                <a:sym typeface="프리텐다드 Bold"/>
              </a:rPr>
              <a:t>02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06770" y="3274348"/>
            <a:ext cx="20540828" cy="7012652"/>
            <a:chOff x="0" y="0"/>
            <a:chExt cx="27387770" cy="9350202"/>
          </a:xfrm>
        </p:grpSpPr>
        <p:grpSp>
          <p:nvGrpSpPr>
            <p:cNvPr id="3" name="Group 3"/>
            <p:cNvGrpSpPr/>
            <p:nvPr/>
          </p:nvGrpSpPr>
          <p:grpSpPr>
            <a:xfrm rot="-5400000">
              <a:off x="11157038" y="-11157038"/>
              <a:ext cx="4770675" cy="27084750"/>
              <a:chOff x="0" y="0"/>
              <a:chExt cx="1831597" cy="10398600"/>
            </a:xfrm>
          </p:grpSpPr>
          <p:sp>
            <p:nvSpPr>
              <p:cNvPr id="4" name="Freeform 4"/>
              <p:cNvSpPr/>
              <p:nvPr/>
            </p:nvSpPr>
            <p:spPr>
              <a:xfrm>
                <a:off x="0" y="0"/>
                <a:ext cx="1831597" cy="10398600"/>
              </a:xfrm>
              <a:custGeom>
                <a:avLst/>
                <a:gdLst/>
                <a:ahLst/>
                <a:cxnLst/>
                <a:rect l="l" t="t" r="r" b="b"/>
                <a:pathLst>
                  <a:path w="1831597" h="10398600">
                    <a:moveTo>
                      <a:pt x="0" y="0"/>
                    </a:moveTo>
                    <a:lnTo>
                      <a:pt x="1831597" y="0"/>
                    </a:lnTo>
                    <a:lnTo>
                      <a:pt x="1831597" y="10398600"/>
                    </a:lnTo>
                    <a:lnTo>
                      <a:pt x="0" y="10398600"/>
                    </a:lnTo>
                    <a:close/>
                  </a:path>
                </a:pathLst>
              </a:custGeom>
              <a:solidFill>
                <a:srgbClr val="CBDDEF"/>
              </a:solidFill>
            </p:spPr>
          </p:sp>
          <p:sp>
            <p:nvSpPr>
              <p:cNvPr id="5" name="TextBox 5"/>
              <p:cNvSpPr txBox="1"/>
              <p:nvPr/>
            </p:nvSpPr>
            <p:spPr>
              <a:xfrm>
                <a:off x="0" y="-38100"/>
                <a:ext cx="1831597" cy="10436700"/>
              </a:xfrm>
              <a:prstGeom prst="rect">
                <a:avLst/>
              </a:prstGeom>
            </p:spPr>
            <p:txBody>
              <a:bodyPr lIns="27024" tIns="27024" rIns="27024" bIns="27024" rtlCol="0" anchor="ctr"/>
              <a:lstStyle/>
              <a:p>
                <a:pPr algn="ctr">
                  <a:lnSpc>
                    <a:spcPts val="2799"/>
                  </a:lnSpc>
                </a:pPr>
                <a:endParaRPr/>
              </a:p>
            </p:txBody>
          </p:sp>
        </p:grpSp>
        <p:grpSp>
          <p:nvGrpSpPr>
            <p:cNvPr id="6" name="Group 6"/>
            <p:cNvGrpSpPr/>
            <p:nvPr/>
          </p:nvGrpSpPr>
          <p:grpSpPr>
            <a:xfrm rot="-5400000">
              <a:off x="11686593" y="-6350975"/>
              <a:ext cx="4579528" cy="26822826"/>
              <a:chOff x="0" y="0"/>
              <a:chExt cx="1758210" cy="10298040"/>
            </a:xfrm>
          </p:grpSpPr>
          <p:sp>
            <p:nvSpPr>
              <p:cNvPr id="7" name="Freeform 7"/>
              <p:cNvSpPr/>
              <p:nvPr/>
            </p:nvSpPr>
            <p:spPr>
              <a:xfrm>
                <a:off x="0" y="0"/>
                <a:ext cx="1758210" cy="10298040"/>
              </a:xfrm>
              <a:custGeom>
                <a:avLst/>
                <a:gdLst/>
                <a:ahLst/>
                <a:cxnLst/>
                <a:rect l="l" t="t" r="r" b="b"/>
                <a:pathLst>
                  <a:path w="1758210" h="10298040">
                    <a:moveTo>
                      <a:pt x="0" y="0"/>
                    </a:moveTo>
                    <a:lnTo>
                      <a:pt x="1758210" y="0"/>
                    </a:lnTo>
                    <a:lnTo>
                      <a:pt x="1758210" y="10298040"/>
                    </a:lnTo>
                    <a:lnTo>
                      <a:pt x="0" y="10298040"/>
                    </a:lnTo>
                    <a:close/>
                  </a:path>
                </a:pathLst>
              </a:custGeom>
              <a:solidFill>
                <a:srgbClr val="94B6DA"/>
              </a:solidFill>
            </p:spPr>
          </p:sp>
          <p:sp>
            <p:nvSpPr>
              <p:cNvPr id="8" name="TextBox 8"/>
              <p:cNvSpPr txBox="1"/>
              <p:nvPr/>
            </p:nvSpPr>
            <p:spPr>
              <a:xfrm>
                <a:off x="0" y="-38100"/>
                <a:ext cx="1758210" cy="10336140"/>
              </a:xfrm>
              <a:prstGeom prst="rect">
                <a:avLst/>
              </a:prstGeom>
            </p:spPr>
            <p:txBody>
              <a:bodyPr lIns="27024" tIns="27024" rIns="27024" bIns="27024" rtlCol="0" anchor="ctr"/>
              <a:lstStyle/>
              <a:p>
                <a:pPr algn="ctr">
                  <a:lnSpc>
                    <a:spcPts val="2799"/>
                  </a:lnSpc>
                </a:pPr>
                <a:endParaRPr/>
              </a:p>
            </p:txBody>
          </p:sp>
        </p:grpSp>
      </p:grpSp>
      <p:grpSp>
        <p:nvGrpSpPr>
          <p:cNvPr id="9" name="Group 9"/>
          <p:cNvGrpSpPr/>
          <p:nvPr/>
        </p:nvGrpSpPr>
        <p:grpSpPr>
          <a:xfrm>
            <a:off x="731085" y="704460"/>
            <a:ext cx="16825830" cy="8968572"/>
            <a:chOff x="0" y="0"/>
            <a:chExt cx="22434440" cy="11958096"/>
          </a:xfrm>
        </p:grpSpPr>
        <p:grpSp>
          <p:nvGrpSpPr>
            <p:cNvPr id="10" name="Group 10"/>
            <p:cNvGrpSpPr/>
            <p:nvPr/>
          </p:nvGrpSpPr>
          <p:grpSpPr>
            <a:xfrm>
              <a:off x="26537" y="10323576"/>
              <a:ext cx="22386981" cy="1634520"/>
              <a:chOff x="0" y="0"/>
              <a:chExt cx="9809754" cy="716230"/>
            </a:xfrm>
          </p:grpSpPr>
          <p:sp>
            <p:nvSpPr>
              <p:cNvPr id="11" name="Freeform 11"/>
              <p:cNvSpPr/>
              <p:nvPr/>
            </p:nvSpPr>
            <p:spPr>
              <a:xfrm>
                <a:off x="0" y="0"/>
                <a:ext cx="9809754" cy="716230"/>
              </a:xfrm>
              <a:custGeom>
                <a:avLst/>
                <a:gdLst/>
                <a:ahLst/>
                <a:cxnLst/>
                <a:rect l="l" t="t" r="r" b="b"/>
                <a:pathLst>
                  <a:path w="9809754" h="716230">
                    <a:moveTo>
                      <a:pt x="0" y="0"/>
                    </a:moveTo>
                    <a:lnTo>
                      <a:pt x="9809754" y="0"/>
                    </a:lnTo>
                    <a:lnTo>
                      <a:pt x="9809754" y="716230"/>
                    </a:lnTo>
                    <a:lnTo>
                      <a:pt x="0" y="716230"/>
                    </a:lnTo>
                    <a:close/>
                  </a:path>
                </a:pathLst>
              </a:custGeom>
              <a:solidFill>
                <a:srgbClr val="20538B"/>
              </a:solidFill>
              <a:ln w="38100" cap="sq">
                <a:solidFill>
                  <a:srgbClr val="20538B"/>
                </a:solidFill>
                <a:prstDash val="solid"/>
                <a:miter/>
              </a:ln>
            </p:spPr>
          </p:sp>
          <p:sp>
            <p:nvSpPr>
              <p:cNvPr id="12" name="TextBox 12"/>
              <p:cNvSpPr txBox="1"/>
              <p:nvPr/>
            </p:nvSpPr>
            <p:spPr>
              <a:xfrm>
                <a:off x="0" y="-47625"/>
                <a:ext cx="9809754" cy="763855"/>
              </a:xfrm>
              <a:prstGeom prst="rect">
                <a:avLst/>
              </a:prstGeom>
            </p:spPr>
            <p:txBody>
              <a:bodyPr lIns="50800" tIns="50800" rIns="50800" bIns="50800" rtlCol="0" anchor="ctr"/>
              <a:lstStyle/>
              <a:p>
                <a:pPr algn="ctr">
                  <a:lnSpc>
                    <a:spcPts val="3163"/>
                  </a:lnSpc>
                </a:pPr>
                <a:endParaRPr/>
              </a:p>
            </p:txBody>
          </p:sp>
        </p:grpSp>
        <p:grpSp>
          <p:nvGrpSpPr>
            <p:cNvPr id="13" name="Group 13"/>
            <p:cNvGrpSpPr/>
            <p:nvPr/>
          </p:nvGrpSpPr>
          <p:grpSpPr>
            <a:xfrm>
              <a:off x="0" y="0"/>
              <a:ext cx="22434440" cy="11837441"/>
              <a:chOff x="0" y="0"/>
              <a:chExt cx="9818921" cy="5180914"/>
            </a:xfrm>
          </p:grpSpPr>
          <p:sp>
            <p:nvSpPr>
              <p:cNvPr id="14" name="Freeform 14"/>
              <p:cNvSpPr/>
              <p:nvPr/>
            </p:nvSpPr>
            <p:spPr>
              <a:xfrm>
                <a:off x="0" y="0"/>
                <a:ext cx="9818922" cy="5180914"/>
              </a:xfrm>
              <a:custGeom>
                <a:avLst/>
                <a:gdLst/>
                <a:ahLst/>
                <a:cxnLst/>
                <a:rect l="l" t="t" r="r" b="b"/>
                <a:pathLst>
                  <a:path w="9818922" h="5180914">
                    <a:moveTo>
                      <a:pt x="0" y="0"/>
                    </a:moveTo>
                    <a:lnTo>
                      <a:pt x="9818922" y="0"/>
                    </a:lnTo>
                    <a:lnTo>
                      <a:pt x="9818922" y="5180914"/>
                    </a:lnTo>
                    <a:lnTo>
                      <a:pt x="0" y="5180914"/>
                    </a:lnTo>
                    <a:close/>
                  </a:path>
                </a:pathLst>
              </a:custGeom>
              <a:solidFill>
                <a:srgbClr val="FFFFFF"/>
              </a:solidFill>
              <a:ln w="38100" cap="sq">
                <a:solidFill>
                  <a:srgbClr val="20538B"/>
                </a:solidFill>
                <a:prstDash val="solid"/>
                <a:miter/>
              </a:ln>
            </p:spPr>
          </p:sp>
          <p:sp>
            <p:nvSpPr>
              <p:cNvPr id="15" name="TextBox 15"/>
              <p:cNvSpPr txBox="1"/>
              <p:nvPr/>
            </p:nvSpPr>
            <p:spPr>
              <a:xfrm>
                <a:off x="0" y="-47625"/>
                <a:ext cx="9818921" cy="5228539"/>
              </a:xfrm>
              <a:prstGeom prst="rect">
                <a:avLst/>
              </a:prstGeom>
            </p:spPr>
            <p:txBody>
              <a:bodyPr lIns="50800" tIns="50800" rIns="50800" bIns="50800" rtlCol="0" anchor="ctr"/>
              <a:lstStyle/>
              <a:p>
                <a:pPr algn="ctr">
                  <a:lnSpc>
                    <a:spcPts val="3163"/>
                  </a:lnSpc>
                </a:pPr>
                <a:endParaRPr/>
              </a:p>
            </p:txBody>
          </p:sp>
        </p:grpSp>
      </p:grpSp>
      <p:grpSp>
        <p:nvGrpSpPr>
          <p:cNvPr id="16" name="Group 16"/>
          <p:cNvGrpSpPr/>
          <p:nvPr/>
        </p:nvGrpSpPr>
        <p:grpSpPr>
          <a:xfrm>
            <a:off x="763743" y="737117"/>
            <a:ext cx="16760151" cy="1486758"/>
            <a:chOff x="0" y="0"/>
            <a:chExt cx="8581180" cy="761219"/>
          </a:xfrm>
        </p:grpSpPr>
        <p:sp>
          <p:nvSpPr>
            <p:cNvPr id="17" name="Freeform 17"/>
            <p:cNvSpPr/>
            <p:nvPr/>
          </p:nvSpPr>
          <p:spPr>
            <a:xfrm>
              <a:off x="0" y="0"/>
              <a:ext cx="8581180" cy="761219"/>
            </a:xfrm>
            <a:custGeom>
              <a:avLst/>
              <a:gdLst/>
              <a:ahLst/>
              <a:cxnLst/>
              <a:rect l="l" t="t" r="r" b="b"/>
              <a:pathLst>
                <a:path w="8581180" h="761219">
                  <a:moveTo>
                    <a:pt x="0" y="0"/>
                  </a:moveTo>
                  <a:lnTo>
                    <a:pt x="8581180" y="0"/>
                  </a:lnTo>
                  <a:lnTo>
                    <a:pt x="8581180" y="761219"/>
                  </a:lnTo>
                  <a:lnTo>
                    <a:pt x="0" y="761219"/>
                  </a:lnTo>
                  <a:close/>
                </a:path>
              </a:pathLst>
            </a:custGeom>
            <a:solidFill>
              <a:srgbClr val="EEF6FF"/>
            </a:solidFill>
            <a:ln w="9525" cap="sq">
              <a:solidFill>
                <a:srgbClr val="20538B"/>
              </a:solidFill>
              <a:prstDash val="solid"/>
              <a:miter/>
            </a:ln>
          </p:spPr>
        </p:sp>
        <p:sp>
          <p:nvSpPr>
            <p:cNvPr id="18" name="TextBox 18"/>
            <p:cNvSpPr txBox="1"/>
            <p:nvPr/>
          </p:nvSpPr>
          <p:spPr>
            <a:xfrm>
              <a:off x="0" y="-38100"/>
              <a:ext cx="8581180" cy="799319"/>
            </a:xfrm>
            <a:prstGeom prst="rect">
              <a:avLst/>
            </a:prstGeom>
          </p:spPr>
          <p:txBody>
            <a:bodyPr lIns="39198" tIns="39198" rIns="39198" bIns="39198" rtlCol="0" anchor="ctr"/>
            <a:lstStyle/>
            <a:p>
              <a:pPr algn="ctr">
                <a:lnSpc>
                  <a:spcPts val="2799"/>
                </a:lnSpc>
              </a:pPr>
              <a:endParaRPr/>
            </a:p>
          </p:txBody>
        </p:sp>
      </p:grpSp>
      <p:sp>
        <p:nvSpPr>
          <p:cNvPr id="19" name="Freeform 19"/>
          <p:cNvSpPr/>
          <p:nvPr/>
        </p:nvSpPr>
        <p:spPr>
          <a:xfrm>
            <a:off x="15531691" y="160918"/>
            <a:ext cx="996214" cy="1021758"/>
          </a:xfrm>
          <a:custGeom>
            <a:avLst/>
            <a:gdLst/>
            <a:ahLst/>
            <a:cxnLst/>
            <a:rect l="l" t="t" r="r" b="b"/>
            <a:pathLst>
              <a:path w="996214" h="1021758">
                <a:moveTo>
                  <a:pt x="0" y="0"/>
                </a:moveTo>
                <a:lnTo>
                  <a:pt x="996214" y="0"/>
                </a:lnTo>
                <a:lnTo>
                  <a:pt x="996214" y="1021758"/>
                </a:lnTo>
                <a:lnTo>
                  <a:pt x="0" y="1021758"/>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20" name="Freeform 20"/>
          <p:cNvSpPr/>
          <p:nvPr/>
        </p:nvSpPr>
        <p:spPr>
          <a:xfrm>
            <a:off x="10725047" y="4712843"/>
            <a:ext cx="272321" cy="272321"/>
          </a:xfrm>
          <a:custGeom>
            <a:avLst/>
            <a:gdLst/>
            <a:ahLst/>
            <a:cxnLst/>
            <a:rect l="l" t="t" r="r" b="b"/>
            <a:pathLst>
              <a:path w="272321" h="272321">
                <a:moveTo>
                  <a:pt x="0" y="0"/>
                </a:moveTo>
                <a:lnTo>
                  <a:pt x="272322" y="0"/>
                </a:lnTo>
                <a:lnTo>
                  <a:pt x="272322" y="272321"/>
                </a:lnTo>
                <a:lnTo>
                  <a:pt x="0" y="272321"/>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21" name="Freeform 21"/>
          <p:cNvSpPr/>
          <p:nvPr/>
        </p:nvSpPr>
        <p:spPr>
          <a:xfrm>
            <a:off x="11118999" y="5406105"/>
            <a:ext cx="311065" cy="230188"/>
          </a:xfrm>
          <a:custGeom>
            <a:avLst/>
            <a:gdLst/>
            <a:ahLst/>
            <a:cxnLst/>
            <a:rect l="l" t="t" r="r" b="b"/>
            <a:pathLst>
              <a:path w="311065" h="230188">
                <a:moveTo>
                  <a:pt x="0" y="0"/>
                </a:moveTo>
                <a:lnTo>
                  <a:pt x="311065" y="0"/>
                </a:lnTo>
                <a:lnTo>
                  <a:pt x="311065" y="230188"/>
                </a:lnTo>
                <a:lnTo>
                  <a:pt x="0" y="230188"/>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22" name="Freeform 22"/>
          <p:cNvSpPr/>
          <p:nvPr/>
        </p:nvSpPr>
        <p:spPr>
          <a:xfrm>
            <a:off x="11118999" y="5960143"/>
            <a:ext cx="311065" cy="230188"/>
          </a:xfrm>
          <a:custGeom>
            <a:avLst/>
            <a:gdLst/>
            <a:ahLst/>
            <a:cxnLst/>
            <a:rect l="l" t="t" r="r" b="b"/>
            <a:pathLst>
              <a:path w="311065" h="230188">
                <a:moveTo>
                  <a:pt x="0" y="0"/>
                </a:moveTo>
                <a:lnTo>
                  <a:pt x="311065" y="0"/>
                </a:lnTo>
                <a:lnTo>
                  <a:pt x="311065" y="230187"/>
                </a:lnTo>
                <a:lnTo>
                  <a:pt x="0" y="230187"/>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23" name="Freeform 23"/>
          <p:cNvSpPr/>
          <p:nvPr/>
        </p:nvSpPr>
        <p:spPr>
          <a:xfrm>
            <a:off x="11118999" y="6514180"/>
            <a:ext cx="311065" cy="230188"/>
          </a:xfrm>
          <a:custGeom>
            <a:avLst/>
            <a:gdLst/>
            <a:ahLst/>
            <a:cxnLst/>
            <a:rect l="l" t="t" r="r" b="b"/>
            <a:pathLst>
              <a:path w="311065" h="230188">
                <a:moveTo>
                  <a:pt x="0" y="0"/>
                </a:moveTo>
                <a:lnTo>
                  <a:pt x="311065" y="0"/>
                </a:lnTo>
                <a:lnTo>
                  <a:pt x="311065" y="230188"/>
                </a:lnTo>
                <a:lnTo>
                  <a:pt x="0" y="230188"/>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24" name="Freeform 24"/>
          <p:cNvSpPr/>
          <p:nvPr/>
        </p:nvSpPr>
        <p:spPr>
          <a:xfrm>
            <a:off x="1854872" y="2795323"/>
            <a:ext cx="8153986" cy="6087692"/>
          </a:xfrm>
          <a:custGeom>
            <a:avLst/>
            <a:gdLst/>
            <a:ahLst/>
            <a:cxnLst/>
            <a:rect l="l" t="t" r="r" b="b"/>
            <a:pathLst>
              <a:path w="8153986" h="6087692">
                <a:moveTo>
                  <a:pt x="0" y="0"/>
                </a:moveTo>
                <a:lnTo>
                  <a:pt x="8153986" y="0"/>
                </a:lnTo>
                <a:lnTo>
                  <a:pt x="8153986" y="6087691"/>
                </a:lnTo>
                <a:lnTo>
                  <a:pt x="0" y="6087691"/>
                </a:lnTo>
                <a:lnTo>
                  <a:pt x="0" y="0"/>
                </a:lnTo>
                <a:close/>
              </a:path>
            </a:pathLst>
          </a:custGeom>
          <a:blipFill>
            <a:blip r:embed="rId9"/>
            <a:stretch>
              <a:fillRect/>
            </a:stretch>
          </a:blipFill>
        </p:spPr>
      </p:sp>
      <p:sp>
        <p:nvSpPr>
          <p:cNvPr id="25" name="TextBox 25"/>
          <p:cNvSpPr txBox="1"/>
          <p:nvPr/>
        </p:nvSpPr>
        <p:spPr>
          <a:xfrm>
            <a:off x="2394993" y="893156"/>
            <a:ext cx="6107827" cy="1114425"/>
          </a:xfrm>
          <a:prstGeom prst="rect">
            <a:avLst/>
          </a:prstGeom>
        </p:spPr>
        <p:txBody>
          <a:bodyPr lIns="0" tIns="0" rIns="0" bIns="0" rtlCol="0" anchor="t">
            <a:spAutoFit/>
          </a:bodyPr>
          <a:lstStyle/>
          <a:p>
            <a:pPr algn="l">
              <a:lnSpc>
                <a:spcPts val="9600"/>
              </a:lnSpc>
            </a:pPr>
            <a:r>
              <a:rPr lang="en-US" sz="5000" b="1">
                <a:solidFill>
                  <a:srgbClr val="20538B"/>
                </a:solidFill>
                <a:latin typeface="프리텐다드 Bold"/>
                <a:ea typeface="프리텐다드 Bold"/>
                <a:cs typeface="프리텐다드 Bold"/>
                <a:sym typeface="프리텐다드 Bold"/>
              </a:rPr>
              <a:t>어셈블리의 함수 호출</a:t>
            </a:r>
          </a:p>
        </p:txBody>
      </p:sp>
      <p:sp>
        <p:nvSpPr>
          <p:cNvPr id="26" name="TextBox 26"/>
          <p:cNvSpPr txBox="1"/>
          <p:nvPr/>
        </p:nvSpPr>
        <p:spPr>
          <a:xfrm>
            <a:off x="1437501" y="920715"/>
            <a:ext cx="834743" cy="1077619"/>
          </a:xfrm>
          <a:prstGeom prst="rect">
            <a:avLst/>
          </a:prstGeom>
        </p:spPr>
        <p:txBody>
          <a:bodyPr lIns="0" tIns="0" rIns="0" bIns="0" rtlCol="0" anchor="t">
            <a:spAutoFit/>
          </a:bodyPr>
          <a:lstStyle/>
          <a:p>
            <a:pPr algn="l">
              <a:lnSpc>
                <a:spcPts val="9372"/>
              </a:lnSpc>
            </a:pPr>
            <a:r>
              <a:rPr lang="en-US" sz="4881" b="1">
                <a:solidFill>
                  <a:srgbClr val="CBDDEF"/>
                </a:solidFill>
                <a:latin typeface="프리텐다드 Bold"/>
                <a:ea typeface="프리텐다드 Bold"/>
                <a:cs typeface="프리텐다드 Bold"/>
                <a:sym typeface="프리텐다드 Bold"/>
              </a:rPr>
              <a:t>03</a:t>
            </a:r>
          </a:p>
        </p:txBody>
      </p:sp>
      <p:sp>
        <p:nvSpPr>
          <p:cNvPr id="27" name="TextBox 27"/>
          <p:cNvSpPr txBox="1"/>
          <p:nvPr/>
        </p:nvSpPr>
        <p:spPr>
          <a:xfrm>
            <a:off x="11118999" y="4553728"/>
            <a:ext cx="6140301" cy="490855"/>
          </a:xfrm>
          <a:prstGeom prst="rect">
            <a:avLst/>
          </a:prstGeom>
        </p:spPr>
        <p:txBody>
          <a:bodyPr lIns="0" tIns="0" rIns="0" bIns="0" rtlCol="0" anchor="t">
            <a:spAutoFit/>
          </a:bodyPr>
          <a:lstStyle/>
          <a:p>
            <a:pPr algn="l">
              <a:lnSpc>
                <a:spcPts val="3920"/>
              </a:lnSpc>
            </a:pPr>
            <a:r>
              <a:rPr lang="en-US" sz="2800" b="1">
                <a:solidFill>
                  <a:srgbClr val="20538B"/>
                </a:solidFill>
                <a:latin typeface="프리텐다드 Bold"/>
                <a:ea typeface="프리텐다드 Bold"/>
                <a:cs typeface="프리텐다드 Bold"/>
                <a:sym typeface="프리텐다드 Bold"/>
              </a:rPr>
              <a:t>핵심 포인트</a:t>
            </a:r>
          </a:p>
        </p:txBody>
      </p:sp>
      <p:sp>
        <p:nvSpPr>
          <p:cNvPr id="28" name="TextBox 28"/>
          <p:cNvSpPr txBox="1"/>
          <p:nvPr/>
        </p:nvSpPr>
        <p:spPr>
          <a:xfrm>
            <a:off x="11641763" y="5153803"/>
            <a:ext cx="4957155" cy="1626871"/>
          </a:xfrm>
          <a:prstGeom prst="rect">
            <a:avLst/>
          </a:prstGeom>
        </p:spPr>
        <p:txBody>
          <a:bodyPr lIns="0" tIns="0" rIns="0" bIns="0" rtlCol="0" anchor="t">
            <a:spAutoFit/>
          </a:bodyPr>
          <a:lstStyle/>
          <a:p>
            <a:pPr algn="l">
              <a:lnSpc>
                <a:spcPts val="4439"/>
              </a:lnSpc>
            </a:pPr>
            <a:r>
              <a:rPr lang="en-US" sz="1999">
                <a:solidFill>
                  <a:srgbClr val="20538B"/>
                </a:solidFill>
                <a:latin typeface="프리텐다드"/>
                <a:ea typeface="프리텐다드"/>
                <a:cs typeface="프리텐다드"/>
                <a:sym typeface="프리텐다드"/>
              </a:rPr>
              <a:t>CALL과 RET</a:t>
            </a:r>
          </a:p>
          <a:p>
            <a:pPr algn="l">
              <a:lnSpc>
                <a:spcPts val="4439"/>
              </a:lnSpc>
            </a:pPr>
            <a:r>
              <a:rPr lang="en-US" sz="1999">
                <a:solidFill>
                  <a:srgbClr val="20538B"/>
                </a:solidFill>
                <a:latin typeface="프리텐다드"/>
                <a:ea typeface="프리텐다드"/>
                <a:cs typeface="프리텐다드"/>
                <a:sym typeface="프리텐다드"/>
              </a:rPr>
              <a:t>스택과 복귀 주소</a:t>
            </a:r>
          </a:p>
          <a:p>
            <a:pPr algn="l">
              <a:lnSpc>
                <a:spcPts val="4439"/>
              </a:lnSpc>
            </a:pPr>
            <a:r>
              <a:rPr lang="en-US" sz="1999">
                <a:solidFill>
                  <a:srgbClr val="20538B"/>
                </a:solidFill>
                <a:latin typeface="프리텐다드"/>
                <a:ea typeface="프리텐다드"/>
                <a:cs typeface="프리텐다드"/>
                <a:sym typeface="프리텐다드"/>
              </a:rPr>
              <a:t>외부 함수 호출의 기본 원리</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06770" y="3274348"/>
            <a:ext cx="20540828" cy="7012652"/>
            <a:chOff x="0" y="0"/>
            <a:chExt cx="27387770" cy="9350202"/>
          </a:xfrm>
        </p:grpSpPr>
        <p:grpSp>
          <p:nvGrpSpPr>
            <p:cNvPr id="3" name="Group 3"/>
            <p:cNvGrpSpPr/>
            <p:nvPr/>
          </p:nvGrpSpPr>
          <p:grpSpPr>
            <a:xfrm rot="-5400000">
              <a:off x="11157038" y="-11157038"/>
              <a:ext cx="4770675" cy="27084750"/>
              <a:chOff x="0" y="0"/>
              <a:chExt cx="1831597" cy="10398600"/>
            </a:xfrm>
          </p:grpSpPr>
          <p:sp>
            <p:nvSpPr>
              <p:cNvPr id="4" name="Freeform 4"/>
              <p:cNvSpPr/>
              <p:nvPr/>
            </p:nvSpPr>
            <p:spPr>
              <a:xfrm>
                <a:off x="0" y="0"/>
                <a:ext cx="1831597" cy="10398600"/>
              </a:xfrm>
              <a:custGeom>
                <a:avLst/>
                <a:gdLst/>
                <a:ahLst/>
                <a:cxnLst/>
                <a:rect l="l" t="t" r="r" b="b"/>
                <a:pathLst>
                  <a:path w="1831597" h="10398600">
                    <a:moveTo>
                      <a:pt x="0" y="0"/>
                    </a:moveTo>
                    <a:lnTo>
                      <a:pt x="1831597" y="0"/>
                    </a:lnTo>
                    <a:lnTo>
                      <a:pt x="1831597" y="10398600"/>
                    </a:lnTo>
                    <a:lnTo>
                      <a:pt x="0" y="10398600"/>
                    </a:lnTo>
                    <a:close/>
                  </a:path>
                </a:pathLst>
              </a:custGeom>
              <a:solidFill>
                <a:srgbClr val="CBDDEF"/>
              </a:solidFill>
            </p:spPr>
          </p:sp>
          <p:sp>
            <p:nvSpPr>
              <p:cNvPr id="5" name="TextBox 5"/>
              <p:cNvSpPr txBox="1"/>
              <p:nvPr/>
            </p:nvSpPr>
            <p:spPr>
              <a:xfrm>
                <a:off x="0" y="-38100"/>
                <a:ext cx="1831597" cy="10436700"/>
              </a:xfrm>
              <a:prstGeom prst="rect">
                <a:avLst/>
              </a:prstGeom>
            </p:spPr>
            <p:txBody>
              <a:bodyPr lIns="27024" tIns="27024" rIns="27024" bIns="27024" rtlCol="0" anchor="ctr"/>
              <a:lstStyle/>
              <a:p>
                <a:pPr algn="ctr">
                  <a:lnSpc>
                    <a:spcPts val="2799"/>
                  </a:lnSpc>
                </a:pPr>
                <a:endParaRPr/>
              </a:p>
            </p:txBody>
          </p:sp>
        </p:grpSp>
        <p:grpSp>
          <p:nvGrpSpPr>
            <p:cNvPr id="6" name="Group 6"/>
            <p:cNvGrpSpPr/>
            <p:nvPr/>
          </p:nvGrpSpPr>
          <p:grpSpPr>
            <a:xfrm rot="-5400000">
              <a:off x="11686593" y="-6350975"/>
              <a:ext cx="4579528" cy="26822826"/>
              <a:chOff x="0" y="0"/>
              <a:chExt cx="1758210" cy="10298040"/>
            </a:xfrm>
          </p:grpSpPr>
          <p:sp>
            <p:nvSpPr>
              <p:cNvPr id="7" name="Freeform 7"/>
              <p:cNvSpPr/>
              <p:nvPr/>
            </p:nvSpPr>
            <p:spPr>
              <a:xfrm>
                <a:off x="0" y="0"/>
                <a:ext cx="1758210" cy="10298040"/>
              </a:xfrm>
              <a:custGeom>
                <a:avLst/>
                <a:gdLst/>
                <a:ahLst/>
                <a:cxnLst/>
                <a:rect l="l" t="t" r="r" b="b"/>
                <a:pathLst>
                  <a:path w="1758210" h="10298040">
                    <a:moveTo>
                      <a:pt x="0" y="0"/>
                    </a:moveTo>
                    <a:lnTo>
                      <a:pt x="1758210" y="0"/>
                    </a:lnTo>
                    <a:lnTo>
                      <a:pt x="1758210" y="10298040"/>
                    </a:lnTo>
                    <a:lnTo>
                      <a:pt x="0" y="10298040"/>
                    </a:lnTo>
                    <a:close/>
                  </a:path>
                </a:pathLst>
              </a:custGeom>
              <a:solidFill>
                <a:srgbClr val="94B6DA"/>
              </a:solidFill>
            </p:spPr>
          </p:sp>
          <p:sp>
            <p:nvSpPr>
              <p:cNvPr id="8" name="TextBox 8"/>
              <p:cNvSpPr txBox="1"/>
              <p:nvPr/>
            </p:nvSpPr>
            <p:spPr>
              <a:xfrm>
                <a:off x="0" y="-38100"/>
                <a:ext cx="1758210" cy="10336140"/>
              </a:xfrm>
              <a:prstGeom prst="rect">
                <a:avLst/>
              </a:prstGeom>
            </p:spPr>
            <p:txBody>
              <a:bodyPr lIns="27024" tIns="27024" rIns="27024" bIns="27024" rtlCol="0" anchor="ctr"/>
              <a:lstStyle/>
              <a:p>
                <a:pPr algn="ctr">
                  <a:lnSpc>
                    <a:spcPts val="2799"/>
                  </a:lnSpc>
                </a:pPr>
                <a:endParaRPr/>
              </a:p>
            </p:txBody>
          </p:sp>
        </p:grpSp>
      </p:grpSp>
      <p:grpSp>
        <p:nvGrpSpPr>
          <p:cNvPr id="9" name="Group 9"/>
          <p:cNvGrpSpPr/>
          <p:nvPr/>
        </p:nvGrpSpPr>
        <p:grpSpPr>
          <a:xfrm>
            <a:off x="731085" y="704460"/>
            <a:ext cx="16825830" cy="8968572"/>
            <a:chOff x="0" y="0"/>
            <a:chExt cx="22434440" cy="11958096"/>
          </a:xfrm>
        </p:grpSpPr>
        <p:grpSp>
          <p:nvGrpSpPr>
            <p:cNvPr id="10" name="Group 10"/>
            <p:cNvGrpSpPr/>
            <p:nvPr/>
          </p:nvGrpSpPr>
          <p:grpSpPr>
            <a:xfrm>
              <a:off x="26537" y="10323576"/>
              <a:ext cx="22386981" cy="1634520"/>
              <a:chOff x="0" y="0"/>
              <a:chExt cx="9809754" cy="716230"/>
            </a:xfrm>
          </p:grpSpPr>
          <p:sp>
            <p:nvSpPr>
              <p:cNvPr id="11" name="Freeform 11"/>
              <p:cNvSpPr/>
              <p:nvPr/>
            </p:nvSpPr>
            <p:spPr>
              <a:xfrm>
                <a:off x="0" y="0"/>
                <a:ext cx="9809754" cy="716230"/>
              </a:xfrm>
              <a:custGeom>
                <a:avLst/>
                <a:gdLst/>
                <a:ahLst/>
                <a:cxnLst/>
                <a:rect l="l" t="t" r="r" b="b"/>
                <a:pathLst>
                  <a:path w="9809754" h="716230">
                    <a:moveTo>
                      <a:pt x="0" y="0"/>
                    </a:moveTo>
                    <a:lnTo>
                      <a:pt x="9809754" y="0"/>
                    </a:lnTo>
                    <a:lnTo>
                      <a:pt x="9809754" y="716230"/>
                    </a:lnTo>
                    <a:lnTo>
                      <a:pt x="0" y="716230"/>
                    </a:lnTo>
                    <a:close/>
                  </a:path>
                </a:pathLst>
              </a:custGeom>
              <a:solidFill>
                <a:srgbClr val="20538B"/>
              </a:solidFill>
              <a:ln w="38100" cap="sq">
                <a:solidFill>
                  <a:srgbClr val="20538B"/>
                </a:solidFill>
                <a:prstDash val="solid"/>
                <a:miter/>
              </a:ln>
            </p:spPr>
          </p:sp>
          <p:sp>
            <p:nvSpPr>
              <p:cNvPr id="12" name="TextBox 12"/>
              <p:cNvSpPr txBox="1"/>
              <p:nvPr/>
            </p:nvSpPr>
            <p:spPr>
              <a:xfrm>
                <a:off x="0" y="-47625"/>
                <a:ext cx="9809754" cy="763855"/>
              </a:xfrm>
              <a:prstGeom prst="rect">
                <a:avLst/>
              </a:prstGeom>
            </p:spPr>
            <p:txBody>
              <a:bodyPr lIns="50800" tIns="50800" rIns="50800" bIns="50800" rtlCol="0" anchor="ctr"/>
              <a:lstStyle/>
              <a:p>
                <a:pPr algn="ctr">
                  <a:lnSpc>
                    <a:spcPts val="3163"/>
                  </a:lnSpc>
                </a:pPr>
                <a:endParaRPr/>
              </a:p>
            </p:txBody>
          </p:sp>
        </p:grpSp>
        <p:grpSp>
          <p:nvGrpSpPr>
            <p:cNvPr id="13" name="Group 13"/>
            <p:cNvGrpSpPr/>
            <p:nvPr/>
          </p:nvGrpSpPr>
          <p:grpSpPr>
            <a:xfrm>
              <a:off x="0" y="0"/>
              <a:ext cx="22434440" cy="11837441"/>
              <a:chOff x="0" y="0"/>
              <a:chExt cx="9818921" cy="5180914"/>
            </a:xfrm>
          </p:grpSpPr>
          <p:sp>
            <p:nvSpPr>
              <p:cNvPr id="14" name="Freeform 14"/>
              <p:cNvSpPr/>
              <p:nvPr/>
            </p:nvSpPr>
            <p:spPr>
              <a:xfrm>
                <a:off x="0" y="0"/>
                <a:ext cx="9818922" cy="5180914"/>
              </a:xfrm>
              <a:custGeom>
                <a:avLst/>
                <a:gdLst/>
                <a:ahLst/>
                <a:cxnLst/>
                <a:rect l="l" t="t" r="r" b="b"/>
                <a:pathLst>
                  <a:path w="9818922" h="5180914">
                    <a:moveTo>
                      <a:pt x="0" y="0"/>
                    </a:moveTo>
                    <a:lnTo>
                      <a:pt x="9818922" y="0"/>
                    </a:lnTo>
                    <a:lnTo>
                      <a:pt x="9818922" y="5180914"/>
                    </a:lnTo>
                    <a:lnTo>
                      <a:pt x="0" y="5180914"/>
                    </a:lnTo>
                    <a:close/>
                  </a:path>
                </a:pathLst>
              </a:custGeom>
              <a:solidFill>
                <a:srgbClr val="FFFFFF"/>
              </a:solidFill>
              <a:ln w="38100" cap="sq">
                <a:solidFill>
                  <a:srgbClr val="20538B"/>
                </a:solidFill>
                <a:prstDash val="solid"/>
                <a:miter/>
              </a:ln>
            </p:spPr>
          </p:sp>
          <p:sp>
            <p:nvSpPr>
              <p:cNvPr id="15" name="TextBox 15"/>
              <p:cNvSpPr txBox="1"/>
              <p:nvPr/>
            </p:nvSpPr>
            <p:spPr>
              <a:xfrm>
                <a:off x="0" y="-47625"/>
                <a:ext cx="9818921" cy="5228539"/>
              </a:xfrm>
              <a:prstGeom prst="rect">
                <a:avLst/>
              </a:prstGeom>
            </p:spPr>
            <p:txBody>
              <a:bodyPr lIns="50800" tIns="50800" rIns="50800" bIns="50800" rtlCol="0" anchor="ctr"/>
              <a:lstStyle/>
              <a:p>
                <a:pPr algn="ctr">
                  <a:lnSpc>
                    <a:spcPts val="3163"/>
                  </a:lnSpc>
                </a:pPr>
                <a:endParaRPr/>
              </a:p>
            </p:txBody>
          </p:sp>
        </p:grpSp>
      </p:grpSp>
      <p:grpSp>
        <p:nvGrpSpPr>
          <p:cNvPr id="16" name="Group 16"/>
          <p:cNvGrpSpPr/>
          <p:nvPr/>
        </p:nvGrpSpPr>
        <p:grpSpPr>
          <a:xfrm>
            <a:off x="763743" y="737117"/>
            <a:ext cx="16760151" cy="1486758"/>
            <a:chOff x="0" y="0"/>
            <a:chExt cx="8581180" cy="761219"/>
          </a:xfrm>
        </p:grpSpPr>
        <p:sp>
          <p:nvSpPr>
            <p:cNvPr id="17" name="Freeform 17"/>
            <p:cNvSpPr/>
            <p:nvPr/>
          </p:nvSpPr>
          <p:spPr>
            <a:xfrm>
              <a:off x="0" y="0"/>
              <a:ext cx="8581180" cy="761219"/>
            </a:xfrm>
            <a:custGeom>
              <a:avLst/>
              <a:gdLst/>
              <a:ahLst/>
              <a:cxnLst/>
              <a:rect l="l" t="t" r="r" b="b"/>
              <a:pathLst>
                <a:path w="8581180" h="761219">
                  <a:moveTo>
                    <a:pt x="0" y="0"/>
                  </a:moveTo>
                  <a:lnTo>
                    <a:pt x="8581180" y="0"/>
                  </a:lnTo>
                  <a:lnTo>
                    <a:pt x="8581180" y="761219"/>
                  </a:lnTo>
                  <a:lnTo>
                    <a:pt x="0" y="761219"/>
                  </a:lnTo>
                  <a:close/>
                </a:path>
              </a:pathLst>
            </a:custGeom>
            <a:solidFill>
              <a:srgbClr val="EEF6FF"/>
            </a:solidFill>
            <a:ln w="9525" cap="sq">
              <a:solidFill>
                <a:srgbClr val="20538B"/>
              </a:solidFill>
              <a:prstDash val="solid"/>
              <a:miter/>
            </a:ln>
          </p:spPr>
        </p:sp>
        <p:sp>
          <p:nvSpPr>
            <p:cNvPr id="18" name="TextBox 18"/>
            <p:cNvSpPr txBox="1"/>
            <p:nvPr/>
          </p:nvSpPr>
          <p:spPr>
            <a:xfrm>
              <a:off x="0" y="-38100"/>
              <a:ext cx="8581180" cy="799319"/>
            </a:xfrm>
            <a:prstGeom prst="rect">
              <a:avLst/>
            </a:prstGeom>
          </p:spPr>
          <p:txBody>
            <a:bodyPr lIns="39198" tIns="39198" rIns="39198" bIns="39198" rtlCol="0" anchor="ctr"/>
            <a:lstStyle/>
            <a:p>
              <a:pPr algn="ctr">
                <a:lnSpc>
                  <a:spcPts val="2799"/>
                </a:lnSpc>
              </a:pPr>
              <a:endParaRPr/>
            </a:p>
          </p:txBody>
        </p:sp>
      </p:grpSp>
      <p:sp>
        <p:nvSpPr>
          <p:cNvPr id="19" name="Freeform 19"/>
          <p:cNvSpPr/>
          <p:nvPr/>
        </p:nvSpPr>
        <p:spPr>
          <a:xfrm>
            <a:off x="15531691" y="160918"/>
            <a:ext cx="996214" cy="1021758"/>
          </a:xfrm>
          <a:custGeom>
            <a:avLst/>
            <a:gdLst/>
            <a:ahLst/>
            <a:cxnLst/>
            <a:rect l="l" t="t" r="r" b="b"/>
            <a:pathLst>
              <a:path w="996214" h="1021758">
                <a:moveTo>
                  <a:pt x="0" y="0"/>
                </a:moveTo>
                <a:lnTo>
                  <a:pt x="996214" y="0"/>
                </a:lnTo>
                <a:lnTo>
                  <a:pt x="996214" y="1021758"/>
                </a:lnTo>
                <a:lnTo>
                  <a:pt x="0" y="1021758"/>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20" name="Freeform 20"/>
          <p:cNvSpPr/>
          <p:nvPr/>
        </p:nvSpPr>
        <p:spPr>
          <a:xfrm>
            <a:off x="10725047" y="4712843"/>
            <a:ext cx="272321" cy="272321"/>
          </a:xfrm>
          <a:custGeom>
            <a:avLst/>
            <a:gdLst/>
            <a:ahLst/>
            <a:cxnLst/>
            <a:rect l="l" t="t" r="r" b="b"/>
            <a:pathLst>
              <a:path w="272321" h="272321">
                <a:moveTo>
                  <a:pt x="0" y="0"/>
                </a:moveTo>
                <a:lnTo>
                  <a:pt x="272322" y="0"/>
                </a:lnTo>
                <a:lnTo>
                  <a:pt x="272322" y="272321"/>
                </a:lnTo>
                <a:lnTo>
                  <a:pt x="0" y="272321"/>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21" name="Freeform 21"/>
          <p:cNvSpPr/>
          <p:nvPr/>
        </p:nvSpPr>
        <p:spPr>
          <a:xfrm>
            <a:off x="11118999" y="5406105"/>
            <a:ext cx="311065" cy="230188"/>
          </a:xfrm>
          <a:custGeom>
            <a:avLst/>
            <a:gdLst/>
            <a:ahLst/>
            <a:cxnLst/>
            <a:rect l="l" t="t" r="r" b="b"/>
            <a:pathLst>
              <a:path w="311065" h="230188">
                <a:moveTo>
                  <a:pt x="0" y="0"/>
                </a:moveTo>
                <a:lnTo>
                  <a:pt x="311065" y="0"/>
                </a:lnTo>
                <a:lnTo>
                  <a:pt x="311065" y="230188"/>
                </a:lnTo>
                <a:lnTo>
                  <a:pt x="0" y="230188"/>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22" name="Freeform 22"/>
          <p:cNvSpPr/>
          <p:nvPr/>
        </p:nvSpPr>
        <p:spPr>
          <a:xfrm>
            <a:off x="11118999" y="5960143"/>
            <a:ext cx="311065" cy="230188"/>
          </a:xfrm>
          <a:custGeom>
            <a:avLst/>
            <a:gdLst/>
            <a:ahLst/>
            <a:cxnLst/>
            <a:rect l="l" t="t" r="r" b="b"/>
            <a:pathLst>
              <a:path w="311065" h="230188">
                <a:moveTo>
                  <a:pt x="0" y="0"/>
                </a:moveTo>
                <a:lnTo>
                  <a:pt x="311065" y="0"/>
                </a:lnTo>
                <a:lnTo>
                  <a:pt x="311065" y="230187"/>
                </a:lnTo>
                <a:lnTo>
                  <a:pt x="0" y="230187"/>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23" name="Freeform 23"/>
          <p:cNvSpPr/>
          <p:nvPr/>
        </p:nvSpPr>
        <p:spPr>
          <a:xfrm>
            <a:off x="11118999" y="6514180"/>
            <a:ext cx="311065" cy="230188"/>
          </a:xfrm>
          <a:custGeom>
            <a:avLst/>
            <a:gdLst/>
            <a:ahLst/>
            <a:cxnLst/>
            <a:rect l="l" t="t" r="r" b="b"/>
            <a:pathLst>
              <a:path w="311065" h="230188">
                <a:moveTo>
                  <a:pt x="0" y="0"/>
                </a:moveTo>
                <a:lnTo>
                  <a:pt x="311065" y="0"/>
                </a:lnTo>
                <a:lnTo>
                  <a:pt x="311065" y="230188"/>
                </a:lnTo>
                <a:lnTo>
                  <a:pt x="0" y="230188"/>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24" name="Freeform 24"/>
          <p:cNvSpPr/>
          <p:nvPr/>
        </p:nvSpPr>
        <p:spPr>
          <a:xfrm>
            <a:off x="1028700" y="2886601"/>
            <a:ext cx="9104582" cy="5834320"/>
          </a:xfrm>
          <a:custGeom>
            <a:avLst/>
            <a:gdLst/>
            <a:ahLst/>
            <a:cxnLst/>
            <a:rect l="l" t="t" r="r" b="b"/>
            <a:pathLst>
              <a:path w="9104582" h="5834320">
                <a:moveTo>
                  <a:pt x="0" y="0"/>
                </a:moveTo>
                <a:lnTo>
                  <a:pt x="9104582" y="0"/>
                </a:lnTo>
                <a:lnTo>
                  <a:pt x="9104582" y="5834320"/>
                </a:lnTo>
                <a:lnTo>
                  <a:pt x="0" y="5834320"/>
                </a:lnTo>
                <a:lnTo>
                  <a:pt x="0" y="0"/>
                </a:lnTo>
                <a:close/>
              </a:path>
            </a:pathLst>
          </a:custGeom>
          <a:blipFill>
            <a:blip r:embed="rId9"/>
            <a:stretch>
              <a:fillRect/>
            </a:stretch>
          </a:blipFill>
        </p:spPr>
      </p:sp>
      <p:sp>
        <p:nvSpPr>
          <p:cNvPr id="25" name="TextBox 25"/>
          <p:cNvSpPr txBox="1"/>
          <p:nvPr/>
        </p:nvSpPr>
        <p:spPr>
          <a:xfrm>
            <a:off x="2394993" y="893156"/>
            <a:ext cx="6107827" cy="1114425"/>
          </a:xfrm>
          <a:prstGeom prst="rect">
            <a:avLst/>
          </a:prstGeom>
        </p:spPr>
        <p:txBody>
          <a:bodyPr lIns="0" tIns="0" rIns="0" bIns="0" rtlCol="0" anchor="t">
            <a:spAutoFit/>
          </a:bodyPr>
          <a:lstStyle/>
          <a:p>
            <a:pPr algn="l">
              <a:lnSpc>
                <a:spcPts val="9600"/>
              </a:lnSpc>
            </a:pPr>
            <a:r>
              <a:rPr lang="en-US" sz="5000" b="1">
                <a:solidFill>
                  <a:srgbClr val="20538B"/>
                </a:solidFill>
                <a:latin typeface="프리텐다드 Bold"/>
                <a:ea typeface="프리텐다드 Bold"/>
                <a:cs typeface="프리텐다드 Bold"/>
                <a:sym typeface="프리텐다드 Bold"/>
              </a:rPr>
              <a:t>DLL의 연결 과정</a:t>
            </a:r>
          </a:p>
        </p:txBody>
      </p:sp>
      <p:sp>
        <p:nvSpPr>
          <p:cNvPr id="26" name="TextBox 26"/>
          <p:cNvSpPr txBox="1"/>
          <p:nvPr/>
        </p:nvSpPr>
        <p:spPr>
          <a:xfrm>
            <a:off x="1437501" y="920715"/>
            <a:ext cx="834743" cy="1077619"/>
          </a:xfrm>
          <a:prstGeom prst="rect">
            <a:avLst/>
          </a:prstGeom>
        </p:spPr>
        <p:txBody>
          <a:bodyPr lIns="0" tIns="0" rIns="0" bIns="0" rtlCol="0" anchor="t">
            <a:spAutoFit/>
          </a:bodyPr>
          <a:lstStyle/>
          <a:p>
            <a:pPr algn="l">
              <a:lnSpc>
                <a:spcPts val="9372"/>
              </a:lnSpc>
            </a:pPr>
            <a:r>
              <a:rPr lang="en-US" sz="4881" b="1">
                <a:solidFill>
                  <a:srgbClr val="CBDDEF"/>
                </a:solidFill>
                <a:latin typeface="프리텐다드 Bold"/>
                <a:ea typeface="프리텐다드 Bold"/>
                <a:cs typeface="프리텐다드 Bold"/>
                <a:sym typeface="프리텐다드 Bold"/>
              </a:rPr>
              <a:t>04</a:t>
            </a:r>
          </a:p>
        </p:txBody>
      </p:sp>
      <p:sp>
        <p:nvSpPr>
          <p:cNvPr id="27" name="TextBox 27"/>
          <p:cNvSpPr txBox="1"/>
          <p:nvPr/>
        </p:nvSpPr>
        <p:spPr>
          <a:xfrm>
            <a:off x="11118999" y="4553728"/>
            <a:ext cx="6140301" cy="490855"/>
          </a:xfrm>
          <a:prstGeom prst="rect">
            <a:avLst/>
          </a:prstGeom>
        </p:spPr>
        <p:txBody>
          <a:bodyPr lIns="0" tIns="0" rIns="0" bIns="0" rtlCol="0" anchor="t">
            <a:spAutoFit/>
          </a:bodyPr>
          <a:lstStyle/>
          <a:p>
            <a:pPr algn="l">
              <a:lnSpc>
                <a:spcPts val="3920"/>
              </a:lnSpc>
            </a:pPr>
            <a:r>
              <a:rPr lang="en-US" sz="2800" b="1">
                <a:solidFill>
                  <a:srgbClr val="20538B"/>
                </a:solidFill>
                <a:latin typeface="프리텐다드 Bold"/>
                <a:ea typeface="프리텐다드 Bold"/>
                <a:cs typeface="프리텐다드 Bold"/>
                <a:sym typeface="프리텐다드 Bold"/>
              </a:rPr>
              <a:t>핵심 포인트</a:t>
            </a:r>
          </a:p>
        </p:txBody>
      </p:sp>
      <p:sp>
        <p:nvSpPr>
          <p:cNvPr id="28" name="TextBox 28"/>
          <p:cNvSpPr txBox="1"/>
          <p:nvPr/>
        </p:nvSpPr>
        <p:spPr>
          <a:xfrm>
            <a:off x="11641763" y="5153803"/>
            <a:ext cx="4957155" cy="1626871"/>
          </a:xfrm>
          <a:prstGeom prst="rect">
            <a:avLst/>
          </a:prstGeom>
        </p:spPr>
        <p:txBody>
          <a:bodyPr lIns="0" tIns="0" rIns="0" bIns="0" rtlCol="0" anchor="t">
            <a:spAutoFit/>
          </a:bodyPr>
          <a:lstStyle/>
          <a:p>
            <a:pPr algn="l">
              <a:lnSpc>
                <a:spcPts val="4439"/>
              </a:lnSpc>
            </a:pPr>
            <a:r>
              <a:rPr lang="en-US" sz="1999">
                <a:solidFill>
                  <a:srgbClr val="20538B"/>
                </a:solidFill>
                <a:latin typeface="프리텐다드"/>
                <a:ea typeface="프리텐다드"/>
                <a:cs typeface="프리텐다드"/>
                <a:sym typeface="프리텐다드"/>
              </a:rPr>
              <a:t>Windows 로더</a:t>
            </a:r>
          </a:p>
          <a:p>
            <a:pPr algn="l">
              <a:lnSpc>
                <a:spcPts val="4439"/>
              </a:lnSpc>
            </a:pPr>
            <a:r>
              <a:rPr lang="en-US" sz="1999">
                <a:solidFill>
                  <a:srgbClr val="20538B"/>
                </a:solidFill>
                <a:latin typeface="프리텐다드"/>
                <a:ea typeface="프리텐다드"/>
                <a:cs typeface="프리텐다드"/>
                <a:sym typeface="프리텐다드"/>
              </a:rPr>
              <a:t>IAT(Import Address Table)</a:t>
            </a:r>
          </a:p>
          <a:p>
            <a:pPr algn="l">
              <a:lnSpc>
                <a:spcPts val="4439"/>
              </a:lnSpc>
            </a:pPr>
            <a:r>
              <a:rPr lang="en-US" sz="1999">
                <a:solidFill>
                  <a:srgbClr val="20538B"/>
                </a:solidFill>
                <a:latin typeface="프리텐다드"/>
                <a:ea typeface="프리텐다드"/>
                <a:cs typeface="프리텐다드"/>
                <a:sym typeface="프리텐다드"/>
              </a:rPr>
              <a:t>LoadLibrary, GetProcAddress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06770" y="3274348"/>
            <a:ext cx="20540828" cy="7012652"/>
            <a:chOff x="0" y="0"/>
            <a:chExt cx="27387770" cy="9350202"/>
          </a:xfrm>
        </p:grpSpPr>
        <p:grpSp>
          <p:nvGrpSpPr>
            <p:cNvPr id="3" name="Group 3"/>
            <p:cNvGrpSpPr/>
            <p:nvPr/>
          </p:nvGrpSpPr>
          <p:grpSpPr>
            <a:xfrm rot="-5400000">
              <a:off x="11157038" y="-11157038"/>
              <a:ext cx="4770675" cy="27084750"/>
              <a:chOff x="0" y="0"/>
              <a:chExt cx="1831597" cy="10398600"/>
            </a:xfrm>
          </p:grpSpPr>
          <p:sp>
            <p:nvSpPr>
              <p:cNvPr id="4" name="Freeform 4"/>
              <p:cNvSpPr/>
              <p:nvPr/>
            </p:nvSpPr>
            <p:spPr>
              <a:xfrm>
                <a:off x="0" y="0"/>
                <a:ext cx="1831597" cy="10398600"/>
              </a:xfrm>
              <a:custGeom>
                <a:avLst/>
                <a:gdLst/>
                <a:ahLst/>
                <a:cxnLst/>
                <a:rect l="l" t="t" r="r" b="b"/>
                <a:pathLst>
                  <a:path w="1831597" h="10398600">
                    <a:moveTo>
                      <a:pt x="0" y="0"/>
                    </a:moveTo>
                    <a:lnTo>
                      <a:pt x="1831597" y="0"/>
                    </a:lnTo>
                    <a:lnTo>
                      <a:pt x="1831597" y="10398600"/>
                    </a:lnTo>
                    <a:lnTo>
                      <a:pt x="0" y="10398600"/>
                    </a:lnTo>
                    <a:close/>
                  </a:path>
                </a:pathLst>
              </a:custGeom>
              <a:solidFill>
                <a:srgbClr val="CBDDEF"/>
              </a:solidFill>
            </p:spPr>
          </p:sp>
          <p:sp>
            <p:nvSpPr>
              <p:cNvPr id="5" name="TextBox 5"/>
              <p:cNvSpPr txBox="1"/>
              <p:nvPr/>
            </p:nvSpPr>
            <p:spPr>
              <a:xfrm>
                <a:off x="0" y="-38100"/>
                <a:ext cx="1831597" cy="10436700"/>
              </a:xfrm>
              <a:prstGeom prst="rect">
                <a:avLst/>
              </a:prstGeom>
            </p:spPr>
            <p:txBody>
              <a:bodyPr lIns="27024" tIns="27024" rIns="27024" bIns="27024" rtlCol="0" anchor="ctr"/>
              <a:lstStyle/>
              <a:p>
                <a:pPr algn="ctr">
                  <a:lnSpc>
                    <a:spcPts val="2799"/>
                  </a:lnSpc>
                </a:pPr>
                <a:endParaRPr/>
              </a:p>
            </p:txBody>
          </p:sp>
        </p:grpSp>
        <p:grpSp>
          <p:nvGrpSpPr>
            <p:cNvPr id="6" name="Group 6"/>
            <p:cNvGrpSpPr/>
            <p:nvPr/>
          </p:nvGrpSpPr>
          <p:grpSpPr>
            <a:xfrm rot="-5400000">
              <a:off x="11686593" y="-6350975"/>
              <a:ext cx="4579528" cy="26822826"/>
              <a:chOff x="0" y="0"/>
              <a:chExt cx="1758210" cy="10298040"/>
            </a:xfrm>
          </p:grpSpPr>
          <p:sp>
            <p:nvSpPr>
              <p:cNvPr id="7" name="Freeform 7"/>
              <p:cNvSpPr/>
              <p:nvPr/>
            </p:nvSpPr>
            <p:spPr>
              <a:xfrm>
                <a:off x="0" y="0"/>
                <a:ext cx="1758210" cy="10298040"/>
              </a:xfrm>
              <a:custGeom>
                <a:avLst/>
                <a:gdLst/>
                <a:ahLst/>
                <a:cxnLst/>
                <a:rect l="l" t="t" r="r" b="b"/>
                <a:pathLst>
                  <a:path w="1758210" h="10298040">
                    <a:moveTo>
                      <a:pt x="0" y="0"/>
                    </a:moveTo>
                    <a:lnTo>
                      <a:pt x="1758210" y="0"/>
                    </a:lnTo>
                    <a:lnTo>
                      <a:pt x="1758210" y="10298040"/>
                    </a:lnTo>
                    <a:lnTo>
                      <a:pt x="0" y="10298040"/>
                    </a:lnTo>
                    <a:close/>
                  </a:path>
                </a:pathLst>
              </a:custGeom>
              <a:solidFill>
                <a:srgbClr val="94B6DA"/>
              </a:solidFill>
            </p:spPr>
          </p:sp>
          <p:sp>
            <p:nvSpPr>
              <p:cNvPr id="8" name="TextBox 8"/>
              <p:cNvSpPr txBox="1"/>
              <p:nvPr/>
            </p:nvSpPr>
            <p:spPr>
              <a:xfrm>
                <a:off x="0" y="-38100"/>
                <a:ext cx="1758210" cy="10336140"/>
              </a:xfrm>
              <a:prstGeom prst="rect">
                <a:avLst/>
              </a:prstGeom>
            </p:spPr>
            <p:txBody>
              <a:bodyPr lIns="27024" tIns="27024" rIns="27024" bIns="27024" rtlCol="0" anchor="ctr"/>
              <a:lstStyle/>
              <a:p>
                <a:pPr algn="ctr">
                  <a:lnSpc>
                    <a:spcPts val="2799"/>
                  </a:lnSpc>
                </a:pPr>
                <a:endParaRPr/>
              </a:p>
            </p:txBody>
          </p:sp>
        </p:grpSp>
      </p:grpSp>
      <p:grpSp>
        <p:nvGrpSpPr>
          <p:cNvPr id="9" name="Group 9"/>
          <p:cNvGrpSpPr/>
          <p:nvPr/>
        </p:nvGrpSpPr>
        <p:grpSpPr>
          <a:xfrm>
            <a:off x="731085" y="704460"/>
            <a:ext cx="16825830" cy="8968572"/>
            <a:chOff x="0" y="0"/>
            <a:chExt cx="22434440" cy="11958096"/>
          </a:xfrm>
        </p:grpSpPr>
        <p:grpSp>
          <p:nvGrpSpPr>
            <p:cNvPr id="10" name="Group 10"/>
            <p:cNvGrpSpPr/>
            <p:nvPr/>
          </p:nvGrpSpPr>
          <p:grpSpPr>
            <a:xfrm>
              <a:off x="26537" y="10323576"/>
              <a:ext cx="22386981" cy="1634520"/>
              <a:chOff x="0" y="0"/>
              <a:chExt cx="9809754" cy="716230"/>
            </a:xfrm>
          </p:grpSpPr>
          <p:sp>
            <p:nvSpPr>
              <p:cNvPr id="11" name="Freeform 11"/>
              <p:cNvSpPr/>
              <p:nvPr/>
            </p:nvSpPr>
            <p:spPr>
              <a:xfrm>
                <a:off x="0" y="0"/>
                <a:ext cx="9809754" cy="716230"/>
              </a:xfrm>
              <a:custGeom>
                <a:avLst/>
                <a:gdLst/>
                <a:ahLst/>
                <a:cxnLst/>
                <a:rect l="l" t="t" r="r" b="b"/>
                <a:pathLst>
                  <a:path w="9809754" h="716230">
                    <a:moveTo>
                      <a:pt x="0" y="0"/>
                    </a:moveTo>
                    <a:lnTo>
                      <a:pt x="9809754" y="0"/>
                    </a:lnTo>
                    <a:lnTo>
                      <a:pt x="9809754" y="716230"/>
                    </a:lnTo>
                    <a:lnTo>
                      <a:pt x="0" y="716230"/>
                    </a:lnTo>
                    <a:close/>
                  </a:path>
                </a:pathLst>
              </a:custGeom>
              <a:solidFill>
                <a:srgbClr val="20538B"/>
              </a:solidFill>
              <a:ln w="38100" cap="sq">
                <a:solidFill>
                  <a:srgbClr val="20538B"/>
                </a:solidFill>
                <a:prstDash val="solid"/>
                <a:miter/>
              </a:ln>
            </p:spPr>
          </p:sp>
          <p:sp>
            <p:nvSpPr>
              <p:cNvPr id="12" name="TextBox 12"/>
              <p:cNvSpPr txBox="1"/>
              <p:nvPr/>
            </p:nvSpPr>
            <p:spPr>
              <a:xfrm>
                <a:off x="0" y="-47625"/>
                <a:ext cx="9809754" cy="763855"/>
              </a:xfrm>
              <a:prstGeom prst="rect">
                <a:avLst/>
              </a:prstGeom>
            </p:spPr>
            <p:txBody>
              <a:bodyPr lIns="50800" tIns="50800" rIns="50800" bIns="50800" rtlCol="0" anchor="ctr"/>
              <a:lstStyle/>
              <a:p>
                <a:pPr algn="ctr">
                  <a:lnSpc>
                    <a:spcPts val="3163"/>
                  </a:lnSpc>
                </a:pPr>
                <a:endParaRPr/>
              </a:p>
            </p:txBody>
          </p:sp>
        </p:grpSp>
        <p:grpSp>
          <p:nvGrpSpPr>
            <p:cNvPr id="13" name="Group 13"/>
            <p:cNvGrpSpPr/>
            <p:nvPr/>
          </p:nvGrpSpPr>
          <p:grpSpPr>
            <a:xfrm>
              <a:off x="0" y="0"/>
              <a:ext cx="22434440" cy="11837441"/>
              <a:chOff x="0" y="0"/>
              <a:chExt cx="9818921" cy="5180914"/>
            </a:xfrm>
          </p:grpSpPr>
          <p:sp>
            <p:nvSpPr>
              <p:cNvPr id="14" name="Freeform 14"/>
              <p:cNvSpPr/>
              <p:nvPr/>
            </p:nvSpPr>
            <p:spPr>
              <a:xfrm>
                <a:off x="0" y="0"/>
                <a:ext cx="9818922" cy="5180914"/>
              </a:xfrm>
              <a:custGeom>
                <a:avLst/>
                <a:gdLst/>
                <a:ahLst/>
                <a:cxnLst/>
                <a:rect l="l" t="t" r="r" b="b"/>
                <a:pathLst>
                  <a:path w="9818922" h="5180914">
                    <a:moveTo>
                      <a:pt x="0" y="0"/>
                    </a:moveTo>
                    <a:lnTo>
                      <a:pt x="9818922" y="0"/>
                    </a:lnTo>
                    <a:lnTo>
                      <a:pt x="9818922" y="5180914"/>
                    </a:lnTo>
                    <a:lnTo>
                      <a:pt x="0" y="5180914"/>
                    </a:lnTo>
                    <a:close/>
                  </a:path>
                </a:pathLst>
              </a:custGeom>
              <a:solidFill>
                <a:srgbClr val="FFFFFF"/>
              </a:solidFill>
              <a:ln w="38100" cap="sq">
                <a:solidFill>
                  <a:srgbClr val="20538B"/>
                </a:solidFill>
                <a:prstDash val="solid"/>
                <a:miter/>
              </a:ln>
            </p:spPr>
          </p:sp>
          <p:sp>
            <p:nvSpPr>
              <p:cNvPr id="15" name="TextBox 15"/>
              <p:cNvSpPr txBox="1"/>
              <p:nvPr/>
            </p:nvSpPr>
            <p:spPr>
              <a:xfrm>
                <a:off x="0" y="-47625"/>
                <a:ext cx="9818921" cy="5228539"/>
              </a:xfrm>
              <a:prstGeom prst="rect">
                <a:avLst/>
              </a:prstGeom>
            </p:spPr>
            <p:txBody>
              <a:bodyPr lIns="50800" tIns="50800" rIns="50800" bIns="50800" rtlCol="0" anchor="ctr"/>
              <a:lstStyle/>
              <a:p>
                <a:pPr algn="ctr">
                  <a:lnSpc>
                    <a:spcPts val="3163"/>
                  </a:lnSpc>
                </a:pPr>
                <a:endParaRPr/>
              </a:p>
            </p:txBody>
          </p:sp>
        </p:grpSp>
      </p:grpSp>
      <p:grpSp>
        <p:nvGrpSpPr>
          <p:cNvPr id="16" name="Group 16"/>
          <p:cNvGrpSpPr/>
          <p:nvPr/>
        </p:nvGrpSpPr>
        <p:grpSpPr>
          <a:xfrm>
            <a:off x="763743" y="737117"/>
            <a:ext cx="16760151" cy="1486758"/>
            <a:chOff x="0" y="0"/>
            <a:chExt cx="8581180" cy="761219"/>
          </a:xfrm>
        </p:grpSpPr>
        <p:sp>
          <p:nvSpPr>
            <p:cNvPr id="17" name="Freeform 17"/>
            <p:cNvSpPr/>
            <p:nvPr/>
          </p:nvSpPr>
          <p:spPr>
            <a:xfrm>
              <a:off x="0" y="0"/>
              <a:ext cx="8581180" cy="761219"/>
            </a:xfrm>
            <a:custGeom>
              <a:avLst/>
              <a:gdLst/>
              <a:ahLst/>
              <a:cxnLst/>
              <a:rect l="l" t="t" r="r" b="b"/>
              <a:pathLst>
                <a:path w="8581180" h="761219">
                  <a:moveTo>
                    <a:pt x="0" y="0"/>
                  </a:moveTo>
                  <a:lnTo>
                    <a:pt x="8581180" y="0"/>
                  </a:lnTo>
                  <a:lnTo>
                    <a:pt x="8581180" y="761219"/>
                  </a:lnTo>
                  <a:lnTo>
                    <a:pt x="0" y="761219"/>
                  </a:lnTo>
                  <a:close/>
                </a:path>
              </a:pathLst>
            </a:custGeom>
            <a:solidFill>
              <a:srgbClr val="EEF6FF"/>
            </a:solidFill>
            <a:ln w="9525" cap="sq">
              <a:solidFill>
                <a:srgbClr val="20538B"/>
              </a:solidFill>
              <a:prstDash val="solid"/>
              <a:miter/>
            </a:ln>
          </p:spPr>
        </p:sp>
        <p:sp>
          <p:nvSpPr>
            <p:cNvPr id="18" name="TextBox 18"/>
            <p:cNvSpPr txBox="1"/>
            <p:nvPr/>
          </p:nvSpPr>
          <p:spPr>
            <a:xfrm>
              <a:off x="0" y="-38100"/>
              <a:ext cx="8581180" cy="799319"/>
            </a:xfrm>
            <a:prstGeom prst="rect">
              <a:avLst/>
            </a:prstGeom>
          </p:spPr>
          <p:txBody>
            <a:bodyPr lIns="39198" tIns="39198" rIns="39198" bIns="39198" rtlCol="0" anchor="ctr"/>
            <a:lstStyle/>
            <a:p>
              <a:pPr algn="ctr">
                <a:lnSpc>
                  <a:spcPts val="2799"/>
                </a:lnSpc>
              </a:pPr>
              <a:endParaRPr/>
            </a:p>
          </p:txBody>
        </p:sp>
      </p:grpSp>
      <p:sp>
        <p:nvSpPr>
          <p:cNvPr id="19" name="Freeform 19"/>
          <p:cNvSpPr/>
          <p:nvPr/>
        </p:nvSpPr>
        <p:spPr>
          <a:xfrm>
            <a:off x="15531691" y="160918"/>
            <a:ext cx="996214" cy="1021758"/>
          </a:xfrm>
          <a:custGeom>
            <a:avLst/>
            <a:gdLst/>
            <a:ahLst/>
            <a:cxnLst/>
            <a:rect l="l" t="t" r="r" b="b"/>
            <a:pathLst>
              <a:path w="996214" h="1021758">
                <a:moveTo>
                  <a:pt x="0" y="0"/>
                </a:moveTo>
                <a:lnTo>
                  <a:pt x="996214" y="0"/>
                </a:lnTo>
                <a:lnTo>
                  <a:pt x="996214" y="1021758"/>
                </a:lnTo>
                <a:lnTo>
                  <a:pt x="0" y="1021758"/>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20" name="Freeform 20"/>
          <p:cNvSpPr/>
          <p:nvPr/>
        </p:nvSpPr>
        <p:spPr>
          <a:xfrm>
            <a:off x="10725047" y="4712843"/>
            <a:ext cx="272321" cy="272321"/>
          </a:xfrm>
          <a:custGeom>
            <a:avLst/>
            <a:gdLst/>
            <a:ahLst/>
            <a:cxnLst/>
            <a:rect l="l" t="t" r="r" b="b"/>
            <a:pathLst>
              <a:path w="272321" h="272321">
                <a:moveTo>
                  <a:pt x="0" y="0"/>
                </a:moveTo>
                <a:lnTo>
                  <a:pt x="272322" y="0"/>
                </a:lnTo>
                <a:lnTo>
                  <a:pt x="272322" y="272321"/>
                </a:lnTo>
                <a:lnTo>
                  <a:pt x="0" y="272321"/>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21" name="Freeform 21"/>
          <p:cNvSpPr/>
          <p:nvPr/>
        </p:nvSpPr>
        <p:spPr>
          <a:xfrm>
            <a:off x="11118999" y="5406105"/>
            <a:ext cx="311065" cy="230188"/>
          </a:xfrm>
          <a:custGeom>
            <a:avLst/>
            <a:gdLst/>
            <a:ahLst/>
            <a:cxnLst/>
            <a:rect l="l" t="t" r="r" b="b"/>
            <a:pathLst>
              <a:path w="311065" h="230188">
                <a:moveTo>
                  <a:pt x="0" y="0"/>
                </a:moveTo>
                <a:lnTo>
                  <a:pt x="311065" y="0"/>
                </a:lnTo>
                <a:lnTo>
                  <a:pt x="311065" y="230188"/>
                </a:lnTo>
                <a:lnTo>
                  <a:pt x="0" y="230188"/>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22" name="Freeform 22"/>
          <p:cNvSpPr/>
          <p:nvPr/>
        </p:nvSpPr>
        <p:spPr>
          <a:xfrm>
            <a:off x="11118999" y="5960143"/>
            <a:ext cx="311065" cy="230188"/>
          </a:xfrm>
          <a:custGeom>
            <a:avLst/>
            <a:gdLst/>
            <a:ahLst/>
            <a:cxnLst/>
            <a:rect l="l" t="t" r="r" b="b"/>
            <a:pathLst>
              <a:path w="311065" h="230188">
                <a:moveTo>
                  <a:pt x="0" y="0"/>
                </a:moveTo>
                <a:lnTo>
                  <a:pt x="311065" y="0"/>
                </a:lnTo>
                <a:lnTo>
                  <a:pt x="311065" y="230187"/>
                </a:lnTo>
                <a:lnTo>
                  <a:pt x="0" y="230187"/>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23" name="Freeform 23"/>
          <p:cNvSpPr/>
          <p:nvPr/>
        </p:nvSpPr>
        <p:spPr>
          <a:xfrm>
            <a:off x="11118999" y="6514180"/>
            <a:ext cx="311065" cy="230188"/>
          </a:xfrm>
          <a:custGeom>
            <a:avLst/>
            <a:gdLst/>
            <a:ahLst/>
            <a:cxnLst/>
            <a:rect l="l" t="t" r="r" b="b"/>
            <a:pathLst>
              <a:path w="311065" h="230188">
                <a:moveTo>
                  <a:pt x="0" y="0"/>
                </a:moveTo>
                <a:lnTo>
                  <a:pt x="311065" y="0"/>
                </a:lnTo>
                <a:lnTo>
                  <a:pt x="311065" y="230188"/>
                </a:lnTo>
                <a:lnTo>
                  <a:pt x="0" y="230188"/>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24" name="Freeform 24"/>
          <p:cNvSpPr/>
          <p:nvPr/>
        </p:nvSpPr>
        <p:spPr>
          <a:xfrm>
            <a:off x="1437501" y="2795323"/>
            <a:ext cx="8162780" cy="6089693"/>
          </a:xfrm>
          <a:custGeom>
            <a:avLst/>
            <a:gdLst/>
            <a:ahLst/>
            <a:cxnLst/>
            <a:rect l="l" t="t" r="r" b="b"/>
            <a:pathLst>
              <a:path w="8162780" h="6089693">
                <a:moveTo>
                  <a:pt x="0" y="0"/>
                </a:moveTo>
                <a:lnTo>
                  <a:pt x="8162780" y="0"/>
                </a:lnTo>
                <a:lnTo>
                  <a:pt x="8162780" y="6089693"/>
                </a:lnTo>
                <a:lnTo>
                  <a:pt x="0" y="6089693"/>
                </a:lnTo>
                <a:lnTo>
                  <a:pt x="0" y="0"/>
                </a:lnTo>
                <a:close/>
              </a:path>
            </a:pathLst>
          </a:custGeom>
          <a:blipFill>
            <a:blip r:embed="rId9"/>
            <a:stretch>
              <a:fillRect/>
            </a:stretch>
          </a:blipFill>
        </p:spPr>
      </p:sp>
      <p:sp>
        <p:nvSpPr>
          <p:cNvPr id="25" name="TextBox 25"/>
          <p:cNvSpPr txBox="1"/>
          <p:nvPr/>
        </p:nvSpPr>
        <p:spPr>
          <a:xfrm>
            <a:off x="2394993" y="893156"/>
            <a:ext cx="6107827" cy="1114425"/>
          </a:xfrm>
          <a:prstGeom prst="rect">
            <a:avLst/>
          </a:prstGeom>
        </p:spPr>
        <p:txBody>
          <a:bodyPr lIns="0" tIns="0" rIns="0" bIns="0" rtlCol="0" anchor="t">
            <a:spAutoFit/>
          </a:bodyPr>
          <a:lstStyle/>
          <a:p>
            <a:pPr algn="l">
              <a:lnSpc>
                <a:spcPts val="9600"/>
              </a:lnSpc>
            </a:pPr>
            <a:r>
              <a:rPr lang="en-US" sz="5000" b="1">
                <a:solidFill>
                  <a:srgbClr val="20538B"/>
                </a:solidFill>
                <a:latin typeface="프리텐다드 Bold"/>
                <a:ea typeface="프리텐다드 Bold"/>
                <a:cs typeface="프리텐다드 Bold"/>
                <a:sym typeface="프리텐다드 Bold"/>
              </a:rPr>
              <a:t>장단점 및 결론</a:t>
            </a:r>
          </a:p>
        </p:txBody>
      </p:sp>
      <p:sp>
        <p:nvSpPr>
          <p:cNvPr id="26" name="TextBox 26"/>
          <p:cNvSpPr txBox="1"/>
          <p:nvPr/>
        </p:nvSpPr>
        <p:spPr>
          <a:xfrm>
            <a:off x="1437501" y="920715"/>
            <a:ext cx="834743" cy="1077619"/>
          </a:xfrm>
          <a:prstGeom prst="rect">
            <a:avLst/>
          </a:prstGeom>
        </p:spPr>
        <p:txBody>
          <a:bodyPr lIns="0" tIns="0" rIns="0" bIns="0" rtlCol="0" anchor="t">
            <a:spAutoFit/>
          </a:bodyPr>
          <a:lstStyle/>
          <a:p>
            <a:pPr algn="l">
              <a:lnSpc>
                <a:spcPts val="9372"/>
              </a:lnSpc>
            </a:pPr>
            <a:r>
              <a:rPr lang="en-US" sz="4881" b="1">
                <a:solidFill>
                  <a:srgbClr val="CBDDEF"/>
                </a:solidFill>
                <a:latin typeface="프리텐다드 Bold"/>
                <a:ea typeface="프리텐다드 Bold"/>
                <a:cs typeface="프리텐다드 Bold"/>
                <a:sym typeface="프리텐다드 Bold"/>
              </a:rPr>
              <a:t>05</a:t>
            </a:r>
          </a:p>
        </p:txBody>
      </p:sp>
      <p:sp>
        <p:nvSpPr>
          <p:cNvPr id="27" name="TextBox 27"/>
          <p:cNvSpPr txBox="1"/>
          <p:nvPr/>
        </p:nvSpPr>
        <p:spPr>
          <a:xfrm>
            <a:off x="11118999" y="4553728"/>
            <a:ext cx="6140301" cy="490855"/>
          </a:xfrm>
          <a:prstGeom prst="rect">
            <a:avLst/>
          </a:prstGeom>
        </p:spPr>
        <p:txBody>
          <a:bodyPr lIns="0" tIns="0" rIns="0" bIns="0" rtlCol="0" anchor="t">
            <a:spAutoFit/>
          </a:bodyPr>
          <a:lstStyle/>
          <a:p>
            <a:pPr algn="l">
              <a:lnSpc>
                <a:spcPts val="3920"/>
              </a:lnSpc>
            </a:pPr>
            <a:r>
              <a:rPr lang="en-US" sz="2800" b="1">
                <a:solidFill>
                  <a:srgbClr val="20538B"/>
                </a:solidFill>
                <a:latin typeface="프리텐다드 Bold"/>
                <a:ea typeface="프리텐다드 Bold"/>
                <a:cs typeface="프리텐다드 Bold"/>
                <a:sym typeface="프리텐다드 Bold"/>
              </a:rPr>
              <a:t>핵심 포인트</a:t>
            </a:r>
          </a:p>
        </p:txBody>
      </p:sp>
      <p:sp>
        <p:nvSpPr>
          <p:cNvPr id="28" name="TextBox 28"/>
          <p:cNvSpPr txBox="1"/>
          <p:nvPr/>
        </p:nvSpPr>
        <p:spPr>
          <a:xfrm>
            <a:off x="11641763" y="5153803"/>
            <a:ext cx="4957155" cy="2188846"/>
          </a:xfrm>
          <a:prstGeom prst="rect">
            <a:avLst/>
          </a:prstGeom>
        </p:spPr>
        <p:txBody>
          <a:bodyPr lIns="0" tIns="0" rIns="0" bIns="0" rtlCol="0" anchor="t">
            <a:spAutoFit/>
          </a:bodyPr>
          <a:lstStyle/>
          <a:p>
            <a:pPr algn="l">
              <a:lnSpc>
                <a:spcPts val="4439"/>
              </a:lnSpc>
            </a:pPr>
            <a:r>
              <a:rPr lang="en-US" sz="1999">
                <a:solidFill>
                  <a:srgbClr val="20538B"/>
                </a:solidFill>
                <a:latin typeface="프리텐다드"/>
                <a:ea typeface="프리텐다드"/>
                <a:cs typeface="프리텐다드"/>
                <a:sym typeface="프리텐다드"/>
              </a:rPr>
              <a:t>코드 재사용과 모듈화</a:t>
            </a:r>
          </a:p>
          <a:p>
            <a:pPr algn="l">
              <a:lnSpc>
                <a:spcPts val="4439"/>
              </a:lnSpc>
            </a:pPr>
            <a:r>
              <a:rPr lang="en-US" sz="1999">
                <a:solidFill>
                  <a:srgbClr val="20538B"/>
                </a:solidFill>
                <a:latin typeface="프리텐다드"/>
                <a:ea typeface="프리텐다드"/>
                <a:cs typeface="프리텐다드"/>
                <a:sym typeface="프리텐다드"/>
              </a:rPr>
              <a:t>DLL 누락 및 버전 호환성 문제</a:t>
            </a:r>
          </a:p>
          <a:p>
            <a:pPr algn="l">
              <a:lnSpc>
                <a:spcPts val="4439"/>
              </a:lnSpc>
            </a:pPr>
            <a:r>
              <a:rPr lang="en-US" sz="1999">
                <a:solidFill>
                  <a:srgbClr val="20538B"/>
                </a:solidFill>
                <a:latin typeface="프리텐다드"/>
                <a:ea typeface="프리텐다드"/>
                <a:cs typeface="프리텐다드"/>
                <a:sym typeface="프리텐다드"/>
              </a:rPr>
              <a:t>어셈블리와 DLL의 관계 정리</a:t>
            </a:r>
          </a:p>
          <a:p>
            <a:pPr algn="l">
              <a:lnSpc>
                <a:spcPts val="4439"/>
              </a:lnSpc>
            </a:pPr>
            <a:endParaRPr lang="en-US" sz="1999">
              <a:solidFill>
                <a:srgbClr val="20538B"/>
              </a:solidFill>
              <a:latin typeface="프리텐다드"/>
              <a:ea typeface="프리텐다드"/>
              <a:cs typeface="프리텐다드"/>
              <a:sym typeface="프리텐다드"/>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06770" y="3274348"/>
            <a:ext cx="20540828" cy="7012652"/>
            <a:chOff x="0" y="0"/>
            <a:chExt cx="27387770" cy="9350202"/>
          </a:xfrm>
        </p:grpSpPr>
        <p:grpSp>
          <p:nvGrpSpPr>
            <p:cNvPr id="3" name="Group 3"/>
            <p:cNvGrpSpPr/>
            <p:nvPr/>
          </p:nvGrpSpPr>
          <p:grpSpPr>
            <a:xfrm rot="-5400000">
              <a:off x="11157038" y="-11157038"/>
              <a:ext cx="4770675" cy="27084750"/>
              <a:chOff x="0" y="0"/>
              <a:chExt cx="1831597" cy="10398600"/>
            </a:xfrm>
          </p:grpSpPr>
          <p:sp>
            <p:nvSpPr>
              <p:cNvPr id="4" name="Freeform 4"/>
              <p:cNvSpPr/>
              <p:nvPr/>
            </p:nvSpPr>
            <p:spPr>
              <a:xfrm>
                <a:off x="0" y="0"/>
                <a:ext cx="1831597" cy="10398600"/>
              </a:xfrm>
              <a:custGeom>
                <a:avLst/>
                <a:gdLst/>
                <a:ahLst/>
                <a:cxnLst/>
                <a:rect l="l" t="t" r="r" b="b"/>
                <a:pathLst>
                  <a:path w="1831597" h="10398600">
                    <a:moveTo>
                      <a:pt x="0" y="0"/>
                    </a:moveTo>
                    <a:lnTo>
                      <a:pt x="1831597" y="0"/>
                    </a:lnTo>
                    <a:lnTo>
                      <a:pt x="1831597" y="10398600"/>
                    </a:lnTo>
                    <a:lnTo>
                      <a:pt x="0" y="10398600"/>
                    </a:lnTo>
                    <a:close/>
                  </a:path>
                </a:pathLst>
              </a:custGeom>
              <a:solidFill>
                <a:srgbClr val="CBDDEF"/>
              </a:solidFill>
            </p:spPr>
          </p:sp>
          <p:sp>
            <p:nvSpPr>
              <p:cNvPr id="5" name="TextBox 5"/>
              <p:cNvSpPr txBox="1"/>
              <p:nvPr/>
            </p:nvSpPr>
            <p:spPr>
              <a:xfrm>
                <a:off x="0" y="-38100"/>
                <a:ext cx="1831597" cy="10436700"/>
              </a:xfrm>
              <a:prstGeom prst="rect">
                <a:avLst/>
              </a:prstGeom>
            </p:spPr>
            <p:txBody>
              <a:bodyPr lIns="27024" tIns="27024" rIns="27024" bIns="27024" rtlCol="0" anchor="ctr"/>
              <a:lstStyle/>
              <a:p>
                <a:pPr algn="ctr">
                  <a:lnSpc>
                    <a:spcPts val="2799"/>
                  </a:lnSpc>
                </a:pPr>
                <a:endParaRPr/>
              </a:p>
            </p:txBody>
          </p:sp>
        </p:grpSp>
        <p:grpSp>
          <p:nvGrpSpPr>
            <p:cNvPr id="6" name="Group 6"/>
            <p:cNvGrpSpPr/>
            <p:nvPr/>
          </p:nvGrpSpPr>
          <p:grpSpPr>
            <a:xfrm rot="-5400000">
              <a:off x="11686593" y="-6350975"/>
              <a:ext cx="4579528" cy="26822826"/>
              <a:chOff x="0" y="0"/>
              <a:chExt cx="1758210" cy="10298040"/>
            </a:xfrm>
          </p:grpSpPr>
          <p:sp>
            <p:nvSpPr>
              <p:cNvPr id="7" name="Freeform 7"/>
              <p:cNvSpPr/>
              <p:nvPr/>
            </p:nvSpPr>
            <p:spPr>
              <a:xfrm>
                <a:off x="0" y="0"/>
                <a:ext cx="1758210" cy="10298040"/>
              </a:xfrm>
              <a:custGeom>
                <a:avLst/>
                <a:gdLst/>
                <a:ahLst/>
                <a:cxnLst/>
                <a:rect l="l" t="t" r="r" b="b"/>
                <a:pathLst>
                  <a:path w="1758210" h="10298040">
                    <a:moveTo>
                      <a:pt x="0" y="0"/>
                    </a:moveTo>
                    <a:lnTo>
                      <a:pt x="1758210" y="0"/>
                    </a:lnTo>
                    <a:lnTo>
                      <a:pt x="1758210" y="10298040"/>
                    </a:lnTo>
                    <a:lnTo>
                      <a:pt x="0" y="10298040"/>
                    </a:lnTo>
                    <a:close/>
                  </a:path>
                </a:pathLst>
              </a:custGeom>
              <a:solidFill>
                <a:srgbClr val="94B6DA"/>
              </a:solidFill>
            </p:spPr>
          </p:sp>
          <p:sp>
            <p:nvSpPr>
              <p:cNvPr id="8" name="TextBox 8"/>
              <p:cNvSpPr txBox="1"/>
              <p:nvPr/>
            </p:nvSpPr>
            <p:spPr>
              <a:xfrm>
                <a:off x="0" y="-38100"/>
                <a:ext cx="1758210" cy="10336140"/>
              </a:xfrm>
              <a:prstGeom prst="rect">
                <a:avLst/>
              </a:prstGeom>
            </p:spPr>
            <p:txBody>
              <a:bodyPr lIns="27024" tIns="27024" rIns="27024" bIns="27024" rtlCol="0" anchor="ctr"/>
              <a:lstStyle/>
              <a:p>
                <a:pPr algn="ctr">
                  <a:lnSpc>
                    <a:spcPts val="2799"/>
                  </a:lnSpc>
                </a:pPr>
                <a:endParaRPr/>
              </a:p>
            </p:txBody>
          </p:sp>
        </p:grpSp>
      </p:grpSp>
      <p:grpSp>
        <p:nvGrpSpPr>
          <p:cNvPr id="9" name="Group 9"/>
          <p:cNvGrpSpPr/>
          <p:nvPr/>
        </p:nvGrpSpPr>
        <p:grpSpPr>
          <a:xfrm>
            <a:off x="731085" y="704460"/>
            <a:ext cx="16825830" cy="8968572"/>
            <a:chOff x="0" y="0"/>
            <a:chExt cx="22434440" cy="11958096"/>
          </a:xfrm>
        </p:grpSpPr>
        <p:grpSp>
          <p:nvGrpSpPr>
            <p:cNvPr id="10" name="Group 10"/>
            <p:cNvGrpSpPr/>
            <p:nvPr/>
          </p:nvGrpSpPr>
          <p:grpSpPr>
            <a:xfrm>
              <a:off x="26537" y="10323576"/>
              <a:ext cx="22386981" cy="1634520"/>
              <a:chOff x="0" y="0"/>
              <a:chExt cx="9809754" cy="716230"/>
            </a:xfrm>
          </p:grpSpPr>
          <p:sp>
            <p:nvSpPr>
              <p:cNvPr id="11" name="Freeform 11"/>
              <p:cNvSpPr/>
              <p:nvPr/>
            </p:nvSpPr>
            <p:spPr>
              <a:xfrm>
                <a:off x="0" y="0"/>
                <a:ext cx="9809754" cy="716230"/>
              </a:xfrm>
              <a:custGeom>
                <a:avLst/>
                <a:gdLst/>
                <a:ahLst/>
                <a:cxnLst/>
                <a:rect l="l" t="t" r="r" b="b"/>
                <a:pathLst>
                  <a:path w="9809754" h="716230">
                    <a:moveTo>
                      <a:pt x="0" y="0"/>
                    </a:moveTo>
                    <a:lnTo>
                      <a:pt x="9809754" y="0"/>
                    </a:lnTo>
                    <a:lnTo>
                      <a:pt x="9809754" y="716230"/>
                    </a:lnTo>
                    <a:lnTo>
                      <a:pt x="0" y="716230"/>
                    </a:lnTo>
                    <a:close/>
                  </a:path>
                </a:pathLst>
              </a:custGeom>
              <a:solidFill>
                <a:srgbClr val="20538B"/>
              </a:solidFill>
              <a:ln w="38100" cap="sq">
                <a:solidFill>
                  <a:srgbClr val="20538B"/>
                </a:solidFill>
                <a:prstDash val="solid"/>
                <a:miter/>
              </a:ln>
            </p:spPr>
          </p:sp>
          <p:sp>
            <p:nvSpPr>
              <p:cNvPr id="12" name="TextBox 12"/>
              <p:cNvSpPr txBox="1"/>
              <p:nvPr/>
            </p:nvSpPr>
            <p:spPr>
              <a:xfrm>
                <a:off x="0" y="-47625"/>
                <a:ext cx="9809754" cy="763855"/>
              </a:xfrm>
              <a:prstGeom prst="rect">
                <a:avLst/>
              </a:prstGeom>
            </p:spPr>
            <p:txBody>
              <a:bodyPr lIns="50800" tIns="50800" rIns="50800" bIns="50800" rtlCol="0" anchor="ctr"/>
              <a:lstStyle/>
              <a:p>
                <a:pPr algn="ctr">
                  <a:lnSpc>
                    <a:spcPts val="3163"/>
                  </a:lnSpc>
                </a:pPr>
                <a:endParaRPr/>
              </a:p>
            </p:txBody>
          </p:sp>
        </p:grpSp>
        <p:grpSp>
          <p:nvGrpSpPr>
            <p:cNvPr id="13" name="Group 13"/>
            <p:cNvGrpSpPr/>
            <p:nvPr/>
          </p:nvGrpSpPr>
          <p:grpSpPr>
            <a:xfrm>
              <a:off x="0" y="0"/>
              <a:ext cx="22434440" cy="11837441"/>
              <a:chOff x="0" y="0"/>
              <a:chExt cx="9818921" cy="5180914"/>
            </a:xfrm>
          </p:grpSpPr>
          <p:sp>
            <p:nvSpPr>
              <p:cNvPr id="14" name="Freeform 14"/>
              <p:cNvSpPr/>
              <p:nvPr/>
            </p:nvSpPr>
            <p:spPr>
              <a:xfrm>
                <a:off x="0" y="0"/>
                <a:ext cx="9818922" cy="5180914"/>
              </a:xfrm>
              <a:custGeom>
                <a:avLst/>
                <a:gdLst/>
                <a:ahLst/>
                <a:cxnLst/>
                <a:rect l="l" t="t" r="r" b="b"/>
                <a:pathLst>
                  <a:path w="9818922" h="5180914">
                    <a:moveTo>
                      <a:pt x="0" y="0"/>
                    </a:moveTo>
                    <a:lnTo>
                      <a:pt x="9818922" y="0"/>
                    </a:lnTo>
                    <a:lnTo>
                      <a:pt x="9818922" y="5180914"/>
                    </a:lnTo>
                    <a:lnTo>
                      <a:pt x="0" y="5180914"/>
                    </a:lnTo>
                    <a:close/>
                  </a:path>
                </a:pathLst>
              </a:custGeom>
              <a:solidFill>
                <a:srgbClr val="FFFFFF"/>
              </a:solidFill>
              <a:ln w="38100" cap="sq">
                <a:solidFill>
                  <a:srgbClr val="20538B"/>
                </a:solidFill>
                <a:prstDash val="solid"/>
                <a:miter/>
              </a:ln>
            </p:spPr>
          </p:sp>
          <p:sp>
            <p:nvSpPr>
              <p:cNvPr id="15" name="TextBox 15"/>
              <p:cNvSpPr txBox="1"/>
              <p:nvPr/>
            </p:nvSpPr>
            <p:spPr>
              <a:xfrm>
                <a:off x="0" y="-47625"/>
                <a:ext cx="9818921" cy="5228539"/>
              </a:xfrm>
              <a:prstGeom prst="rect">
                <a:avLst/>
              </a:prstGeom>
            </p:spPr>
            <p:txBody>
              <a:bodyPr lIns="50800" tIns="50800" rIns="50800" bIns="50800" rtlCol="0" anchor="ctr"/>
              <a:lstStyle/>
              <a:p>
                <a:pPr algn="ctr">
                  <a:lnSpc>
                    <a:spcPts val="3163"/>
                  </a:lnSpc>
                </a:pPr>
                <a:endParaRPr/>
              </a:p>
            </p:txBody>
          </p:sp>
        </p:grpSp>
      </p:grpSp>
      <p:sp>
        <p:nvSpPr>
          <p:cNvPr id="16" name="Freeform 16"/>
          <p:cNvSpPr/>
          <p:nvPr/>
        </p:nvSpPr>
        <p:spPr>
          <a:xfrm>
            <a:off x="15531691" y="160918"/>
            <a:ext cx="996214" cy="1021758"/>
          </a:xfrm>
          <a:custGeom>
            <a:avLst/>
            <a:gdLst/>
            <a:ahLst/>
            <a:cxnLst/>
            <a:rect l="l" t="t" r="r" b="b"/>
            <a:pathLst>
              <a:path w="996214" h="1021758">
                <a:moveTo>
                  <a:pt x="0" y="0"/>
                </a:moveTo>
                <a:lnTo>
                  <a:pt x="996214" y="0"/>
                </a:lnTo>
                <a:lnTo>
                  <a:pt x="996214" y="1021758"/>
                </a:lnTo>
                <a:lnTo>
                  <a:pt x="0" y="1021758"/>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7" name="TextBox 17"/>
          <p:cNvSpPr txBox="1"/>
          <p:nvPr/>
        </p:nvSpPr>
        <p:spPr>
          <a:xfrm>
            <a:off x="6312082" y="3765551"/>
            <a:ext cx="5663836" cy="1377949"/>
          </a:xfrm>
          <a:prstGeom prst="rect">
            <a:avLst/>
          </a:prstGeom>
        </p:spPr>
        <p:txBody>
          <a:bodyPr lIns="0" tIns="0" rIns="0" bIns="0" rtlCol="0" anchor="t">
            <a:spAutoFit/>
          </a:bodyPr>
          <a:lstStyle/>
          <a:p>
            <a:pPr marL="0" lvl="0" indent="0" algn="ctr">
              <a:lnSpc>
                <a:spcPts val="11200"/>
              </a:lnSpc>
            </a:pPr>
            <a:r>
              <a:rPr lang="en-US" sz="8000" b="1">
                <a:solidFill>
                  <a:srgbClr val="20538B"/>
                </a:solidFill>
                <a:latin typeface="프리텐다드 Bold"/>
                <a:ea typeface="프리텐다드 Bold"/>
                <a:cs typeface="프리텐다드 Bold"/>
                <a:sym typeface="프리텐다드 Bold"/>
              </a:rPr>
              <a:t>감사합니다</a:t>
            </a:r>
          </a:p>
        </p:txBody>
      </p:sp>
      <p:sp>
        <p:nvSpPr>
          <p:cNvPr id="18" name="TextBox 18"/>
          <p:cNvSpPr txBox="1"/>
          <p:nvPr/>
        </p:nvSpPr>
        <p:spPr>
          <a:xfrm>
            <a:off x="6774149" y="5000625"/>
            <a:ext cx="4739702" cy="1187279"/>
          </a:xfrm>
          <a:prstGeom prst="rect">
            <a:avLst/>
          </a:prstGeom>
        </p:spPr>
        <p:txBody>
          <a:bodyPr lIns="0" tIns="0" rIns="0" bIns="0" rtlCol="0" anchor="t">
            <a:spAutoFit/>
          </a:bodyPr>
          <a:lstStyle/>
          <a:p>
            <a:pPr marL="0" lvl="0" indent="0" algn="ctr">
              <a:lnSpc>
                <a:spcPts val="9634"/>
              </a:lnSpc>
            </a:pPr>
            <a:r>
              <a:rPr lang="en-US" sz="6881" b="1">
                <a:solidFill>
                  <a:srgbClr val="CBDDEF"/>
                </a:solidFill>
                <a:latin typeface="프리텐다드 Bold"/>
                <a:ea typeface="프리텐다드 Bold"/>
                <a:cs typeface="프리텐다드 Bold"/>
                <a:sym typeface="프리텐다드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TotalTime>
  <Words>611</Words>
  <Application>Microsoft Office PowerPoint</Application>
  <PresentationFormat>사용자 지정</PresentationFormat>
  <Paragraphs>102</Paragraphs>
  <Slides>8</Slides>
  <Notes>8</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8</vt:i4>
      </vt:variant>
    </vt:vector>
  </HeadingPairs>
  <TitlesOfParts>
    <vt:vector size="13" baseType="lpstr">
      <vt:lpstr>프리텐다드 Bold</vt:lpstr>
      <vt:lpstr>Arial</vt:lpstr>
      <vt:lpstr>Calibri</vt:lpstr>
      <vt:lpstr>프리텐다드</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하늘색 흰색 파란색 미니멀 비즈니스 프로젝트 프레젠테이션</dc:title>
  <cp:lastModifiedBy>user</cp:lastModifiedBy>
  <cp:revision>3</cp:revision>
  <dcterms:created xsi:type="dcterms:W3CDTF">2006-08-16T00:00:00Z</dcterms:created>
  <dcterms:modified xsi:type="dcterms:W3CDTF">2026-10-14T13:11:59Z</dcterms:modified>
  <dc:identifier>DAHX-PB3t6g</dc:identifier>
</cp:coreProperties>
</file>